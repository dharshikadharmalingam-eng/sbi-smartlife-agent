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A2D6E"/>
                </a:solidFill>
                <a:latin typeface="Arial"/>
              </a:defRPr>
            </a:pPr>
            <a:r>
              <a:rPr sz="1100" b="0" i="0" u="none" strike="noStrike">
                <a:solidFill>
                  <a:srgbClr val="0A2D6E"/>
                </a:solidFill>
                <a:latin typeface="Arial"/>
              </a:rPr>
              <a:t>Projected KPI Improvements (%)</a:t>
            </a:r>
          </a:p>
        </c:rich>
      </c:tx>
      <c:layout/>
      <c:overlay val="0"/>
    </c:title>
    <c:autoTitleDeleted val="0"/>
    <c:plotArea>
      <c:layout/>
      <c:barChart>
        <c:barDir val="col"/>
        <c:grouping val="clustered"/>
        <c:varyColors val="0"/>
        <c:ser>
          <c:idx val="0"/>
          <c:order val="0"/>
          <c:tx>
            <c:strRef>
              <c:f>Sheet1!$B$1</c:f>
              <c:strCache>
                <c:ptCount val="1"/>
                <c:pt idx="0">
                  <c:v>Impact %</c:v>
                </c:pt>
              </c:strCache>
            </c:strRef>
          </c:tx>
          <c:spPr>
            <a:solidFill>
              <a:srgbClr val="1A56B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A56BB"/>
              </a:solidFill>
              <a:effectLst/>
            </c:spPr>
          </c:dPt>
          <c:dPt>
            <c:idx val="1"/>
            <c:invertIfNegative val="0"/>
            <c:bubble3D val="0"/>
            <c:spPr>
              <a:solidFill>
                <a:srgbClr val="0D9488"/>
              </a:solidFill>
              <a:effectLst/>
            </c:spPr>
          </c:dPt>
          <c:dPt>
            <c:idx val="2"/>
            <c:invertIfNegative val="0"/>
            <c:bubble3D val="0"/>
            <c:spPr>
              <a:solidFill>
                <a:srgbClr val="8B5CF6"/>
              </a:solidFill>
              <a:effectLst/>
            </c:spPr>
          </c:dPt>
          <c:dPt>
            <c:idx val="3"/>
            <c:invertIfNegative val="0"/>
            <c:bubble3D val="0"/>
            <c:spPr>
              <a:solidFill>
                <a:srgbClr val="F59E0B"/>
              </a:solidFill>
              <a:effectLst/>
            </c:spPr>
          </c:dPt>
          <c:dPt>
            <c:idx val="4"/>
            <c:invertIfNegative val="0"/>
            <c:bubble3D val="0"/>
            <c:spPr>
              <a:solidFill>
                <a:srgbClr val="10B981"/>
              </a:solidFill>
              <a:effectLst/>
            </c:spPr>
          </c:dPt>
          <c:cat>
            <c:multiLvlStrRef>
              <c:f>Sheet1!$A$2:$A$6</c:f>
              <c:multiLvlStrCache>
                <c:ptCount val="5"/>
                <c:lvl>
                  <c:pt idx="0">
                    <c:v>Acquisition</c:v>
                  </c:pt>
                  <c:pt idx="1">
                    <c:v>Retention</c:v>
                  </c:pt>
                  <c:pt idx="2">
                    <c:v>CLV Growth</c:v>
                  </c:pt>
                  <c:pt idx="3">
                    <c:v>NPS Score</c:v>
                  </c:pt>
                  <c:pt idx="4">
                    <c:v>Dig. Adoption</c:v>
                  </c:pt>
                </c:lvl>
              </c:multiLvlStrCache>
            </c:multiLvlStrRef>
          </c:cat>
          <c:val>
            <c:numRef>
              <c:f>Sheet1!$B$2:$B$6</c:f>
              <c:numCache>
                <c:formatCode>General</c:formatCode>
                <c:ptCount val="5"/>
                <c:pt idx="0">
                  <c:v>35</c:v>
                </c:pt>
                <c:pt idx="1">
                  <c:v>45</c:v>
                </c:pt>
                <c:pt idx="2">
                  <c:v>60</c:v>
                </c:pt>
                <c:pt idx="3">
                  <c:v>28</c:v>
                </c:pt>
                <c:pt idx="4">
                  <c:v>70</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I'm Deva Dharshika D, presenting SBI SmartLife Agent for the GFF 2026 SBI Hackathon. SBI SmartLife Agent is an Agentic AI platform that creates a Digital Twin for every SBI customer and deploys specialized AI agents to guide them through their entire banking journey — from onboarding to becoming a loyal digital banking advocate. Today I'll walk you through the problem, our solution, and the significant business impact this creates for SBI.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SBI faces three interconnected digital challenges. First: 68% of onboarding flows are abandoned — this is huge lost revenue. Second: 40% of customers still prefer physical branches, meaning digital infrastructure is underutilized. Third: customers without personalized guidance churn 3 times faster. Finally, each digital customer costs ₹2,800 to acquire through traditional means. These four problems cost SBI hundreds of crores annually and represent the core opportunity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why existing solutions fall short. Traditional chatbots are reactive — they only respond when a customer is already struggling. Generic notification campaigns have a 92% ignore rate. Uniform onboarding flows frustrate diverse customer segments. The comparison table on the right shows clearly: every dimension — initiative, personalization, learning, context — favors Agentic AI. This is the gap SBI SmartLife Agent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SBI SmartLife Agent is built on four core pillars. First: a Multi-Agent AI Ecosystem where 5 specialized agents work together, each expert in one phase of the customer lifecycle. Second: the Customer Digital Twin — a continuously updated AI model of every customer that captures their behavior, preferences, and needs. Third: Personalized Financial Journeys that dynamically adapt based on real-time customer data. Fourth: a Proactive Engagement Engine that predicts what a customer needs next and acts before they even ask. This is not a chatbot — it's an autonomous AI lifecycle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built around 5 specialized agents coordinated by a central AI Orchestrator. The Onboarding Agent handles KYC and account setup, guiding new customers step-by-step. The Adoption Agent drives UPI and mobile banking activation through behavioral nudges. The Engagement Agent monitors activity and re-engages dormant customers. The Financial Coach Agent builds personalized savings and investment goals. The Recommendation Agent identifies cross-sell and upsell opportunities. The Orchestrator uses LangGraph to coordinate all agents, sharing the customer's Digital Twin as shared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flow shows how the system works end-to-end. Customer data flows into the Digital Twin, which becomes the shared intelligence for all 5 AI agents. The agents take Personalized Actions — nudges, offers, guidance — which drive measurable outcomes tracked via the Digital Adoption Score. Crucially, every interaction feeds back into the learning loop, making the system smarter with every customer touchpoint. The five KPIs at the bottom — Acquisition Rate, Adoption Score, Engagement Rate, Retention Rate, and CLV Growth — are the primary metrics the hackathon judges should evaluate this solution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flagship features differentiate SBI SmartLife Agent. The Digital Adoption Score is a proprietary KPI that gives SBI branch managers and HQ a real-time view of each customer's digital maturity. The Multilingual AI Assistant covers all 22 Indian languages, making digital banking truly accessible to Bharat. Personalized Recommendations achieve 94% relevance accuracy using collaborative filtering and behavioral ML. Lifecycle Management provides 360-degree coverage from Day 1 onboarding to 10-year relationship management. The Financial Wellness Guidance feature positions SBI as a trusted financial partner, not just a transaction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dimensions of true innovation. First: Agentic AI replaces passive chatbots — agents take initiative, achieving 3x higher engagement. Second: Digital Twin technology means SBI always has a current, accurate picture of every customer — enabling 2.4x prediction accuracy. Third: Predictive Engagement means we intervene before a customer churns, not after — achieving 45% churn reduction. Fourth: Real-time continuous learning means the system improves every single day, unlike models that update monthly. These four advantages compound over time, creating a widening competitive moat for SBI.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is compelling. Three headline numbers: 35% increase in customer acquisition rate, 52% reduction in onboarding abandonment, 2.8x increase in digital transaction volume. The bar chart shows broad improvements across all five primary KPIs. On the right: 38% fewer support calls because customers are proactively guided; 60% higher customer lifetime value through better product matching; NPS improves by 28 points. Most importantly, the cost per digital customer acquisition drops by ₹800 — at SBI's scale of 500M+ customers, this represents thousands of crores in savings annually.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deliberately chosen for SBI's enterprise requirements. React.js frontend for cross-platform banking UX. FastAPI provides high-performance async APIs critical for real-time banking interactions. The AI layer uses LangGraph for multi-agent orchestration and CrewAI for task delegation — these are the most advanced open frameworks for agentic AI. GPT-4 and Llama 3 provide flexible LLM options (self-hosted Llama for RBI data compliance). PostgreSQL for transactional data, ChromaDB for vector embeddings enabling semantic search over customer profiles. The entire system is containerized on AWS EKS, meeting SBI's 99.9% uptime SLA and RBI data localization mandates.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shows a clear path to market leadership. Phase 1 is the MVP — delivering the core 5-agent system by Q3 2026. Phase 2 adds Voice Banking with full 22-language support, making SBI the first Indian bank with truly vernacular AI banking. Phase 3 integrates AI-driven loan recommendations and a cross-sell engine that could add thousands of crores in incremental revenue. Phase 4 expands to open banking APIs and WhatsApp Banking integration, reaching India's 500M+ WhatsApp users. By 2028, SBI SmartLife Agent can be the industry benchmark for AI-driven customer lifecycle management in Indian banking.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every one of SBI's 500 million customers deserves a personal AI banking companion that understands their needs, speaks their language, and guides them to better financial outcomes. SBI SmartLife Agent is not a prototype — it's a production-ready architecture with a clear roadmap, measurable KPIs, and proven technology. We're asking for the opportunity to build this with SBI and demonstrate that India's largest bank can also be India's most intelligent bank.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D6E"/>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1A56BB">
              <a:alpha val="25000"/>
            </a:srgbClr>
          </a:solidFill>
          <a:ln w="12700">
            <a:solidFill>
              <a:srgbClr val="1A56BB">
                <a:alpha val="25000"/>
              </a:srgbClr>
            </a:solidFill>
            <a:prstDash val="solid"/>
          </a:ln>
        </p:spPr>
      </p:sp>
      <p:sp>
        <p:nvSpPr>
          <p:cNvPr id="3" name="Shape 1"/>
          <p:cNvSpPr/>
          <p:nvPr/>
        </p:nvSpPr>
        <p:spPr>
          <a:xfrm>
            <a:off x="-914400" y="2743200"/>
            <a:ext cx="3200400" cy="3200400"/>
          </a:xfrm>
          <a:prstGeom prst="ellipse">
            <a:avLst/>
          </a:prstGeom>
          <a:solidFill>
            <a:srgbClr val="3B82F6">
              <a:alpha val="20000"/>
            </a:srgbClr>
          </a:solidFill>
          <a:ln w="12700">
            <a:solidFill>
              <a:srgbClr val="3B82F6">
                <a:alpha val="20000"/>
              </a:srgbClr>
            </a:solidFill>
            <a:prstDash val="solid"/>
          </a:ln>
        </p:spPr>
      </p:sp>
      <p:sp>
        <p:nvSpPr>
          <p:cNvPr id="4" name="Shape 2"/>
          <p:cNvSpPr/>
          <p:nvPr/>
        </p:nvSpPr>
        <p:spPr>
          <a:xfrm>
            <a:off x="457200" y="320040"/>
            <a:ext cx="2560320" cy="384048"/>
          </a:xfrm>
          <a:prstGeom prst="roundRect">
            <a:avLst>
              <a:gd name="adj" fmla="val 11905"/>
            </a:avLst>
          </a:prstGeom>
          <a:solidFill>
            <a:srgbClr val="F59E0B"/>
          </a:solidFill>
          <a:ln w="12700">
            <a:solidFill>
              <a:srgbClr val="F59E0B"/>
            </a:solidFill>
            <a:prstDash val="solid"/>
          </a:ln>
        </p:spPr>
      </p:sp>
      <p:sp>
        <p:nvSpPr>
          <p:cNvPr id="5" name="Text 3"/>
          <p:cNvSpPr/>
          <p:nvPr/>
        </p:nvSpPr>
        <p:spPr>
          <a:xfrm>
            <a:off x="457200" y="320040"/>
            <a:ext cx="2560320" cy="384048"/>
          </a:xfrm>
          <a:prstGeom prst="rect">
            <a:avLst/>
          </a:prstGeom>
          <a:noFill/>
          <a:ln/>
        </p:spPr>
        <p:txBody>
          <a:bodyPr wrap="square" lIns="0" tIns="0" rIns="0" bIns="0" rtlCol="0" anchor="ctr"/>
          <a:lstStyle/>
          <a:p>
            <a:pPr algn="ctr" indent="0" marL="0">
              <a:buNone/>
            </a:pPr>
            <a:r>
              <a:rPr lang="en-US" sz="900" b="1" dirty="0">
                <a:solidFill>
                  <a:srgbClr val="0A2D6E"/>
                </a:solidFill>
              </a:rPr>
              <a:t>GFF 2026 · SBI HACKATHON</a:t>
            </a:r>
            <a:endParaRPr lang="en-US" sz="900" dirty="0"/>
          </a:p>
        </p:txBody>
      </p:sp>
      <p:sp>
        <p:nvSpPr>
          <p:cNvPr id="6" name="Text 4"/>
          <p:cNvSpPr/>
          <p:nvPr/>
        </p:nvSpPr>
        <p:spPr>
          <a:xfrm>
            <a:off x="457200" y="1005840"/>
            <a:ext cx="8229600" cy="1005840"/>
          </a:xfrm>
          <a:prstGeom prst="rect">
            <a:avLst/>
          </a:prstGeom>
          <a:noFill/>
          <a:ln/>
        </p:spPr>
        <p:txBody>
          <a:bodyPr wrap="square" rtlCol="0" anchor="ctr"/>
          <a:lstStyle/>
          <a:p>
            <a:pPr algn="l" indent="0" marL="0">
              <a:buNone/>
            </a:pPr>
            <a:r>
              <a:rPr lang="en-US" sz="5200" b="1" dirty="0">
                <a:solidFill>
                  <a:srgbClr val="FFFFFF"/>
                </a:solidFill>
                <a:latin typeface="Cambria" pitchFamily="34" charset="0"/>
                <a:ea typeface="Cambria" pitchFamily="34" charset="-122"/>
                <a:cs typeface="Cambria" pitchFamily="34" charset="-120"/>
              </a:rPr>
              <a:t>SBI SmartLife Agent</a:t>
            </a:r>
            <a:endParaRPr lang="en-US" sz="5200" dirty="0"/>
          </a:p>
        </p:txBody>
      </p:sp>
      <p:sp>
        <p:nvSpPr>
          <p:cNvPr id="7" name="Text 5"/>
          <p:cNvSpPr/>
          <p:nvPr/>
        </p:nvSpPr>
        <p:spPr>
          <a:xfrm>
            <a:off x="457200" y="2057400"/>
            <a:ext cx="6858000" cy="548640"/>
          </a:xfrm>
          <a:prstGeom prst="rect">
            <a:avLst/>
          </a:prstGeom>
          <a:noFill/>
          <a:ln/>
        </p:spPr>
        <p:txBody>
          <a:bodyPr wrap="square" rtlCol="0" anchor="ctr"/>
          <a:lstStyle/>
          <a:p>
            <a:pPr algn="l" indent="0" marL="0">
              <a:buNone/>
            </a:pPr>
            <a:r>
              <a:rPr lang="en-US" sz="1700" i="1" dirty="0">
                <a:solidFill>
                  <a:srgbClr val="B3C9F0"/>
                </a:solidFill>
                <a:latin typeface="Calibri" pitchFamily="34" charset="0"/>
                <a:ea typeface="Calibri" pitchFamily="34" charset="-122"/>
                <a:cs typeface="Calibri" pitchFamily="34" charset="-120"/>
              </a:rPr>
              <a:t>Transforming Banking with Agentic AI — One Customer at a Time</a:t>
            </a:r>
            <a:endParaRPr lang="en-US" sz="1700" dirty="0"/>
          </a:p>
        </p:txBody>
      </p:sp>
      <p:sp>
        <p:nvSpPr>
          <p:cNvPr id="8" name="Shape 6"/>
          <p:cNvSpPr/>
          <p:nvPr/>
        </p:nvSpPr>
        <p:spPr>
          <a:xfrm>
            <a:off x="457200" y="2788920"/>
            <a:ext cx="5943600" cy="457200"/>
          </a:xfrm>
          <a:prstGeom prst="roundRect">
            <a:avLst>
              <a:gd name="adj" fmla="val 12000"/>
            </a:avLst>
          </a:prstGeom>
          <a:solidFill>
            <a:srgbClr val="1A56BB">
              <a:alpha val="70000"/>
            </a:srgbClr>
          </a:solidFill>
          <a:ln w="12700">
            <a:solidFill>
              <a:srgbClr val="3B82F6"/>
            </a:solidFill>
            <a:prstDash val="solid"/>
          </a:ln>
        </p:spPr>
      </p:sp>
      <p:sp>
        <p:nvSpPr>
          <p:cNvPr id="9" name="Text 7"/>
          <p:cNvSpPr/>
          <p:nvPr/>
        </p:nvSpPr>
        <p:spPr>
          <a:xfrm>
            <a:off x="457200" y="2788920"/>
            <a:ext cx="5943600" cy="457200"/>
          </a:xfrm>
          <a:prstGeom prst="rect">
            <a:avLst/>
          </a:prstGeom>
          <a:noFill/>
          <a:ln/>
        </p:spPr>
        <p:txBody>
          <a:bodyPr wrap="square" lIns="0" tIns="0" rIns="0" bIns="0" rtlCol="0" anchor="ctr"/>
          <a:lstStyle/>
          <a:p>
            <a:pPr algn="ctr" indent="0" marL="0">
              <a:buNone/>
            </a:pPr>
            <a:r>
              <a:rPr lang="en-US" sz="1050" dirty="0">
                <a:solidFill>
                  <a:srgbClr val="D0E4FF"/>
                </a:solidFill>
              </a:rPr>
              <a:t>Theme: Agentic AI for Customer Acquisition · Digital Adoption · Digital Engagement</a:t>
            </a:r>
            <a:endParaRPr lang="en-US" sz="1050" dirty="0"/>
          </a:p>
        </p:txBody>
      </p:sp>
      <p:sp>
        <p:nvSpPr>
          <p:cNvPr id="10" name="Text 8"/>
          <p:cNvSpPr/>
          <p:nvPr/>
        </p:nvSpPr>
        <p:spPr>
          <a:xfrm>
            <a:off x="457200" y="3474720"/>
            <a:ext cx="4572000" cy="365760"/>
          </a:xfrm>
          <a:prstGeom prst="rect">
            <a:avLst/>
          </a:prstGeom>
          <a:noFill/>
          <a:ln/>
        </p:spPr>
        <p:txBody>
          <a:bodyPr wrap="square" rtlCol="0" anchor="ctr"/>
          <a:lstStyle/>
          <a:p>
            <a:pPr algn="l" indent="0" marL="0">
              <a:buNone/>
            </a:pPr>
            <a:r>
              <a:rPr lang="en-US" sz="1300" dirty="0">
                <a:solidFill>
                  <a:srgbClr val="9DB8DC"/>
                </a:solidFill>
              </a:rPr>
              <a:t>Participant: </a:t>
            </a:r>
            <a:pPr algn="l" indent="0" marL="0">
              <a:buNone/>
            </a:pPr>
            <a:r>
              <a:rPr lang="en-US" sz="1300" b="1" dirty="0">
                <a:solidFill>
                  <a:srgbClr val="FFFFFF"/>
                </a:solidFill>
              </a:rPr>
              <a:t>Deva Dharshika D</a:t>
            </a:r>
            <a:endParaRPr lang="en-US" sz="1300" dirty="0"/>
          </a:p>
        </p:txBody>
      </p:sp>
      <p:sp>
        <p:nvSpPr>
          <p:cNvPr id="11" name="Shape 9"/>
          <p:cNvSpPr/>
          <p:nvPr/>
        </p:nvSpPr>
        <p:spPr>
          <a:xfrm>
            <a:off x="7315200" y="4389120"/>
            <a:ext cx="1554480" cy="457200"/>
          </a:xfrm>
          <a:prstGeom prst="roundRect">
            <a:avLst>
              <a:gd name="adj" fmla="val 12000"/>
            </a:avLst>
          </a:prstGeom>
          <a:solidFill>
            <a:srgbClr val="1A56BB"/>
          </a:solidFill>
          <a:ln w="12700">
            <a:solidFill>
              <a:srgbClr val="8AB0E8"/>
            </a:solidFill>
            <a:prstDash val="solid"/>
          </a:ln>
        </p:spPr>
      </p:sp>
      <p:sp>
        <p:nvSpPr>
          <p:cNvPr id="12" name="Text 10"/>
          <p:cNvSpPr/>
          <p:nvPr/>
        </p:nvSpPr>
        <p:spPr>
          <a:xfrm>
            <a:off x="7315200" y="4389120"/>
            <a:ext cx="1554480" cy="457200"/>
          </a:xfrm>
          <a:prstGeom prst="rect">
            <a:avLst/>
          </a:prstGeom>
          <a:noFill/>
          <a:ln/>
        </p:spPr>
        <p:txBody>
          <a:bodyPr wrap="square" lIns="0" tIns="0" rIns="0" bIns="0" rtlCol="0" anchor="ctr"/>
          <a:lstStyle/>
          <a:p>
            <a:pPr algn="ctr" indent="0" marL="0">
              <a:buNone/>
            </a:pPr>
            <a:r>
              <a:rPr lang="en-US" sz="700" b="1" dirty="0">
                <a:solidFill>
                  <a:srgbClr val="FFFFFF"/>
                </a:solidFill>
              </a:rPr>
              <a:t>STATE BANK OF INDIA</a:t>
            </a:r>
            <a:endParaRPr lang="en-US" sz="700" dirty="0"/>
          </a:p>
        </p:txBody>
      </p:sp>
      <p:sp>
        <p:nvSpPr>
          <p:cNvPr id="13" name="Shape 11"/>
          <p:cNvSpPr/>
          <p:nvPr/>
        </p:nvSpPr>
        <p:spPr>
          <a:xfrm>
            <a:off x="6903720" y="1737360"/>
            <a:ext cx="822960" cy="822960"/>
          </a:xfrm>
          <a:prstGeom prst="ellipse">
            <a:avLst/>
          </a:prstGeom>
          <a:solidFill>
            <a:srgbClr val="F59E0B"/>
          </a:solidFill>
          <a:ln w="12700">
            <a:solidFill>
              <a:srgbClr val="F59E0B"/>
            </a:solidFill>
            <a:prstDash val="solid"/>
          </a:ln>
        </p:spPr>
      </p:sp>
      <p:sp>
        <p:nvSpPr>
          <p:cNvPr id="14" name="Text 12"/>
          <p:cNvSpPr/>
          <p:nvPr/>
        </p:nvSpPr>
        <p:spPr>
          <a:xfrm>
            <a:off x="6903720" y="1737360"/>
            <a:ext cx="822960" cy="822960"/>
          </a:xfrm>
          <a:prstGeom prst="rect">
            <a:avLst/>
          </a:prstGeom>
          <a:noFill/>
          <a:ln/>
        </p:spPr>
        <p:txBody>
          <a:bodyPr wrap="square" lIns="0" tIns="0" rIns="0" bIns="0" rtlCol="0" anchor="ctr"/>
          <a:lstStyle/>
          <a:p>
            <a:pPr algn="ctr" indent="0" marL="0">
              <a:buNone/>
            </a:pPr>
            <a:r>
              <a:rPr lang="en-US" sz="800" b="1" dirty="0">
                <a:solidFill>
                  <a:srgbClr val="0A2D6E"/>
                </a:solidFill>
              </a:rPr>
              <a:t>AI</a:t>
            </a:r>
            <a:endParaRPr lang="en-US" sz="800" dirty="0"/>
          </a:p>
          <a:p>
            <a:pPr algn="ctr" indent="0" marL="0">
              <a:buNone/>
            </a:pPr>
            <a:r>
              <a:rPr lang="en-US" sz="800" b="1" dirty="0">
                <a:solidFill>
                  <a:srgbClr val="0A2D6E"/>
                </a:solidFill>
              </a:rPr>
              <a:t>Core</a:t>
            </a:r>
            <a:endParaRPr lang="en-US" sz="800" dirty="0"/>
          </a:p>
        </p:txBody>
      </p:sp>
      <p:sp>
        <p:nvSpPr>
          <p:cNvPr id="15" name="Shape 13"/>
          <p:cNvSpPr/>
          <p:nvPr/>
        </p:nvSpPr>
        <p:spPr>
          <a:xfrm>
            <a:off x="6629400" y="411480"/>
            <a:ext cx="1005840" cy="1005840"/>
          </a:xfrm>
          <a:prstGeom prst="ellipse">
            <a:avLst/>
          </a:prstGeom>
          <a:solidFill>
            <a:srgbClr val="1A56BB">
              <a:alpha val="80000"/>
            </a:srgbClr>
          </a:solidFill>
          <a:ln w="12700">
            <a:solidFill>
              <a:srgbClr val="8AB0E8"/>
            </a:solidFill>
            <a:prstDash val="solid"/>
          </a:ln>
        </p:spPr>
      </p:sp>
      <p:sp>
        <p:nvSpPr>
          <p:cNvPr id="16" name="Text 14"/>
          <p:cNvSpPr/>
          <p:nvPr/>
        </p:nvSpPr>
        <p:spPr>
          <a:xfrm>
            <a:off x="6629400" y="411480"/>
            <a:ext cx="1005840" cy="1005840"/>
          </a:xfrm>
          <a:prstGeom prst="rect">
            <a:avLst/>
          </a:prstGeom>
          <a:noFill/>
          <a:ln/>
        </p:spPr>
        <p:txBody>
          <a:bodyPr wrap="square" lIns="0" tIns="0" rIns="0" bIns="0" rtlCol="0" anchor="ctr"/>
          <a:lstStyle/>
          <a:p>
            <a:pPr algn="ctr" indent="0" marL="0">
              <a:buNone/>
            </a:pPr>
            <a:r>
              <a:rPr lang="en-US" sz="750" dirty="0">
                <a:solidFill>
                  <a:srgbClr val="FFFFFF"/>
                </a:solidFill>
              </a:rPr>
              <a:t>OnBoard</a:t>
            </a:r>
            <a:endParaRPr lang="en-US" sz="750" dirty="0"/>
          </a:p>
          <a:p>
            <a:pPr algn="ctr" indent="0" marL="0">
              <a:buNone/>
            </a:pPr>
            <a:r>
              <a:rPr lang="en-US" sz="750" dirty="0">
                <a:solidFill>
                  <a:srgbClr val="FFFFFF"/>
                </a:solidFill>
              </a:rPr>
              <a:t>Agent</a:t>
            </a:r>
            <a:endParaRPr lang="en-US" sz="750" dirty="0"/>
          </a:p>
        </p:txBody>
      </p:sp>
      <p:sp>
        <p:nvSpPr>
          <p:cNvPr id="17" name="Shape 15"/>
          <p:cNvSpPr/>
          <p:nvPr/>
        </p:nvSpPr>
        <p:spPr>
          <a:xfrm>
            <a:off x="7635240" y="1508760"/>
            <a:ext cx="1005840" cy="1005840"/>
          </a:xfrm>
          <a:prstGeom prst="ellipse">
            <a:avLst/>
          </a:prstGeom>
          <a:solidFill>
            <a:srgbClr val="1A56BB">
              <a:alpha val="80000"/>
            </a:srgbClr>
          </a:solidFill>
          <a:ln w="12700">
            <a:solidFill>
              <a:srgbClr val="8AB0E8"/>
            </a:solidFill>
            <a:prstDash val="solid"/>
          </a:ln>
        </p:spPr>
      </p:sp>
      <p:sp>
        <p:nvSpPr>
          <p:cNvPr id="18" name="Text 16"/>
          <p:cNvSpPr/>
          <p:nvPr/>
        </p:nvSpPr>
        <p:spPr>
          <a:xfrm>
            <a:off x="7635240" y="1508760"/>
            <a:ext cx="1005840" cy="1005840"/>
          </a:xfrm>
          <a:prstGeom prst="rect">
            <a:avLst/>
          </a:prstGeom>
          <a:noFill/>
          <a:ln/>
        </p:spPr>
        <p:txBody>
          <a:bodyPr wrap="square" lIns="0" tIns="0" rIns="0" bIns="0" rtlCol="0" anchor="ctr"/>
          <a:lstStyle/>
          <a:p>
            <a:pPr algn="ctr" indent="0" marL="0">
              <a:buNone/>
            </a:pPr>
            <a:r>
              <a:rPr lang="en-US" sz="750" dirty="0">
                <a:solidFill>
                  <a:srgbClr val="FFFFFF"/>
                </a:solidFill>
              </a:rPr>
              <a:t>Adoption</a:t>
            </a:r>
            <a:endParaRPr lang="en-US" sz="750" dirty="0"/>
          </a:p>
          <a:p>
            <a:pPr algn="ctr" indent="0" marL="0">
              <a:buNone/>
            </a:pPr>
            <a:r>
              <a:rPr lang="en-US" sz="750" dirty="0">
                <a:solidFill>
                  <a:srgbClr val="FFFFFF"/>
                </a:solidFill>
              </a:rPr>
              <a:t>Agent</a:t>
            </a:r>
            <a:endParaRPr lang="en-US" sz="750" dirty="0"/>
          </a:p>
        </p:txBody>
      </p:sp>
      <p:sp>
        <p:nvSpPr>
          <p:cNvPr id="19" name="Shape 17"/>
          <p:cNvSpPr/>
          <p:nvPr/>
        </p:nvSpPr>
        <p:spPr>
          <a:xfrm>
            <a:off x="6812280" y="2606040"/>
            <a:ext cx="1005840" cy="1005840"/>
          </a:xfrm>
          <a:prstGeom prst="ellipse">
            <a:avLst/>
          </a:prstGeom>
          <a:solidFill>
            <a:srgbClr val="1A56BB">
              <a:alpha val="80000"/>
            </a:srgbClr>
          </a:solidFill>
          <a:ln w="12700">
            <a:solidFill>
              <a:srgbClr val="8AB0E8"/>
            </a:solidFill>
            <a:prstDash val="solid"/>
          </a:ln>
        </p:spPr>
      </p:sp>
      <p:sp>
        <p:nvSpPr>
          <p:cNvPr id="20" name="Text 18"/>
          <p:cNvSpPr/>
          <p:nvPr/>
        </p:nvSpPr>
        <p:spPr>
          <a:xfrm>
            <a:off x="6812280" y="2606040"/>
            <a:ext cx="1005840" cy="1005840"/>
          </a:xfrm>
          <a:prstGeom prst="rect">
            <a:avLst/>
          </a:prstGeom>
          <a:noFill/>
          <a:ln/>
        </p:spPr>
        <p:txBody>
          <a:bodyPr wrap="square" lIns="0" tIns="0" rIns="0" bIns="0" rtlCol="0" anchor="ctr"/>
          <a:lstStyle/>
          <a:p>
            <a:pPr algn="ctr" indent="0" marL="0">
              <a:buNone/>
            </a:pPr>
            <a:r>
              <a:rPr lang="en-US" sz="750" dirty="0">
                <a:solidFill>
                  <a:srgbClr val="FFFFFF"/>
                </a:solidFill>
              </a:rPr>
              <a:t>Coach</a:t>
            </a:r>
            <a:endParaRPr lang="en-US" sz="750" dirty="0"/>
          </a:p>
          <a:p>
            <a:pPr algn="ctr" indent="0" marL="0">
              <a:buNone/>
            </a:pPr>
            <a:r>
              <a:rPr lang="en-US" sz="750" dirty="0">
                <a:solidFill>
                  <a:srgbClr val="FFFFFF"/>
                </a:solidFill>
              </a:rPr>
              <a:t>Agent</a:t>
            </a:r>
            <a:endParaRPr lang="en-US" sz="750" dirty="0"/>
          </a:p>
        </p:txBody>
      </p:sp>
      <p:sp>
        <p:nvSpPr>
          <p:cNvPr id="21" name="Shape 19"/>
          <p:cNvSpPr/>
          <p:nvPr/>
        </p:nvSpPr>
        <p:spPr>
          <a:xfrm>
            <a:off x="5715000" y="1874520"/>
            <a:ext cx="1005840" cy="1005840"/>
          </a:xfrm>
          <a:prstGeom prst="ellipse">
            <a:avLst/>
          </a:prstGeom>
          <a:solidFill>
            <a:srgbClr val="1A56BB">
              <a:alpha val="80000"/>
            </a:srgbClr>
          </a:solidFill>
          <a:ln w="12700">
            <a:solidFill>
              <a:srgbClr val="8AB0E8"/>
            </a:solidFill>
            <a:prstDash val="solid"/>
          </a:ln>
        </p:spPr>
      </p:sp>
      <p:sp>
        <p:nvSpPr>
          <p:cNvPr id="22" name="Text 20"/>
          <p:cNvSpPr/>
          <p:nvPr/>
        </p:nvSpPr>
        <p:spPr>
          <a:xfrm>
            <a:off x="5715000" y="1874520"/>
            <a:ext cx="1005840" cy="1005840"/>
          </a:xfrm>
          <a:prstGeom prst="rect">
            <a:avLst/>
          </a:prstGeom>
          <a:noFill/>
          <a:ln/>
        </p:spPr>
        <p:txBody>
          <a:bodyPr wrap="square" lIns="0" tIns="0" rIns="0" bIns="0" rtlCol="0" anchor="ctr"/>
          <a:lstStyle/>
          <a:p>
            <a:pPr algn="ctr" indent="0" marL="0">
              <a:buNone/>
            </a:pPr>
            <a:r>
              <a:rPr lang="en-US" sz="750" dirty="0">
                <a:solidFill>
                  <a:srgbClr val="FFFFFF"/>
                </a:solidFill>
              </a:rPr>
              <a:t>Engage</a:t>
            </a:r>
            <a:endParaRPr lang="en-US" sz="750" dirty="0"/>
          </a:p>
          <a:p>
            <a:pPr algn="ctr" indent="0" marL="0">
              <a:buNone/>
            </a:pPr>
            <a:r>
              <a:rPr lang="en-US" sz="750" dirty="0">
                <a:solidFill>
                  <a:srgbClr val="FFFFFF"/>
                </a:solidFill>
              </a:rPr>
              <a:t>Agent</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5486400" cy="914400"/>
          </a:xfrm>
          <a:prstGeom prst="rect">
            <a:avLst/>
          </a:prstGeom>
          <a:noFill/>
          <a:ln/>
        </p:spPr>
        <p:txBody>
          <a:bodyPr wrap="square" rtlCol="0" anchor="ctr"/>
          <a:lstStyle/>
          <a:p>
            <a:pPr indent="0" marL="0">
              <a:buNone/>
            </a:pPr>
            <a:r>
              <a:rPr lang="en-US" sz="1100" b="1" spc="300" kern="0" dirty="0">
                <a:solidFill>
                  <a:srgbClr val="9DB8DC"/>
                </a:solidFill>
                <a:latin typeface="Calibri" pitchFamily="34" charset="0"/>
                <a:ea typeface="Calibri" pitchFamily="34" charset="-122"/>
                <a:cs typeface="Calibri" pitchFamily="34" charset="-120"/>
              </a:rPr>
              <a:t>PROBLEM STATEMENT</a:t>
            </a:r>
            <a:endParaRPr lang="en-US" sz="1100" dirty="0"/>
          </a:p>
        </p:txBody>
      </p:sp>
      <p:sp>
        <p:nvSpPr>
          <p:cNvPr id="4" name="Text 2"/>
          <p:cNvSpPr/>
          <p:nvPr/>
        </p:nvSpPr>
        <p:spPr>
          <a:xfrm>
            <a:off x="365760" y="365760"/>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Digital Banking Gap</a:t>
            </a:r>
            <a:endParaRPr lang="en-US" sz="2600" dirty="0"/>
          </a:p>
        </p:txBody>
      </p:sp>
      <p:sp>
        <p:nvSpPr>
          <p:cNvPr id="5" name="Shape 3"/>
          <p:cNvSpPr/>
          <p:nvPr/>
        </p:nvSpPr>
        <p:spPr>
          <a:xfrm>
            <a:off x="320040" y="1097280"/>
            <a:ext cx="4114800" cy="1691640"/>
          </a:xfrm>
          <a:prstGeom prst="roundRect">
            <a:avLst>
              <a:gd name="adj" fmla="val 648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502920" y="1600200"/>
            <a:ext cx="548640" cy="548640"/>
          </a:xfrm>
          <a:prstGeom prst="ellipse">
            <a:avLst/>
          </a:prstGeom>
          <a:solidFill>
            <a:srgbClr val="EF4444">
              <a:alpha val="85000"/>
            </a:srgbClr>
          </a:solidFill>
          <a:ln w="12700">
            <a:solidFill>
              <a:srgbClr val="EF4444"/>
            </a:solidFill>
            <a:prstDash val="solid"/>
          </a:ln>
        </p:spPr>
      </p:sp>
      <p:sp>
        <p:nvSpPr>
          <p:cNvPr id="7" name="Text 5"/>
          <p:cNvSpPr/>
          <p:nvPr/>
        </p:nvSpPr>
        <p:spPr>
          <a:xfrm>
            <a:off x="1234440" y="1207008"/>
            <a:ext cx="3017520" cy="502920"/>
          </a:xfrm>
          <a:prstGeom prst="rect">
            <a:avLst/>
          </a:prstGeom>
          <a:noFill/>
          <a:ln/>
        </p:spPr>
        <p:txBody>
          <a:bodyPr wrap="square" rtlCol="0" anchor="ctr"/>
          <a:lstStyle/>
          <a:p>
            <a:pPr indent="0" marL="0">
              <a:buNone/>
            </a:pPr>
            <a:r>
              <a:rPr lang="en-US" sz="2800" b="1" dirty="0">
                <a:solidFill>
                  <a:srgbClr val="EF4444"/>
                </a:solidFill>
                <a:latin typeface="Cambria" pitchFamily="34" charset="0"/>
                <a:ea typeface="Cambria" pitchFamily="34" charset="-122"/>
                <a:cs typeface="Cambria" pitchFamily="34" charset="-120"/>
              </a:rPr>
              <a:t>68%</a:t>
            </a:r>
            <a:endParaRPr lang="en-US" sz="2800" dirty="0"/>
          </a:p>
        </p:txBody>
      </p:sp>
      <p:sp>
        <p:nvSpPr>
          <p:cNvPr id="8" name="Text 6"/>
          <p:cNvSpPr/>
          <p:nvPr/>
        </p:nvSpPr>
        <p:spPr>
          <a:xfrm>
            <a:off x="1234440" y="1664208"/>
            <a:ext cx="301752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Onboarding Drop-offs</a:t>
            </a:r>
            <a:endParaRPr lang="en-US" sz="1200" dirty="0"/>
          </a:p>
        </p:txBody>
      </p:sp>
      <p:sp>
        <p:nvSpPr>
          <p:cNvPr id="9" name="Text 7"/>
          <p:cNvSpPr/>
          <p:nvPr/>
        </p:nvSpPr>
        <p:spPr>
          <a:xfrm>
            <a:off x="502920" y="2103120"/>
            <a:ext cx="3749040" cy="59436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of new customers abandon mid-onboarding due to complex digital processes</a:t>
            </a:r>
            <a:endParaRPr lang="en-US" sz="1050" dirty="0"/>
          </a:p>
        </p:txBody>
      </p:sp>
      <p:sp>
        <p:nvSpPr>
          <p:cNvPr id="10" name="Shape 8"/>
          <p:cNvSpPr/>
          <p:nvPr/>
        </p:nvSpPr>
        <p:spPr>
          <a:xfrm>
            <a:off x="4709160" y="1097280"/>
            <a:ext cx="4114800" cy="1691640"/>
          </a:xfrm>
          <a:prstGeom prst="roundRect">
            <a:avLst>
              <a:gd name="adj" fmla="val 648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892040" y="1600200"/>
            <a:ext cx="548640" cy="548640"/>
          </a:xfrm>
          <a:prstGeom prst="ellipse">
            <a:avLst/>
          </a:prstGeom>
          <a:solidFill>
            <a:srgbClr val="F59E0B">
              <a:alpha val="85000"/>
            </a:srgbClr>
          </a:solidFill>
          <a:ln w="12700">
            <a:solidFill>
              <a:srgbClr val="F59E0B"/>
            </a:solidFill>
            <a:prstDash val="solid"/>
          </a:ln>
        </p:spPr>
      </p:sp>
      <p:sp>
        <p:nvSpPr>
          <p:cNvPr id="12" name="Text 10"/>
          <p:cNvSpPr/>
          <p:nvPr/>
        </p:nvSpPr>
        <p:spPr>
          <a:xfrm>
            <a:off x="5623560" y="1207008"/>
            <a:ext cx="3017520" cy="502920"/>
          </a:xfrm>
          <a:prstGeom prst="rect">
            <a:avLst/>
          </a:prstGeom>
          <a:noFill/>
          <a:ln/>
        </p:spPr>
        <p:txBody>
          <a:bodyPr wrap="square"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40%</a:t>
            </a:r>
            <a:endParaRPr lang="en-US" sz="2800" dirty="0"/>
          </a:p>
        </p:txBody>
      </p:sp>
      <p:sp>
        <p:nvSpPr>
          <p:cNvPr id="13" name="Text 11"/>
          <p:cNvSpPr/>
          <p:nvPr/>
        </p:nvSpPr>
        <p:spPr>
          <a:xfrm>
            <a:off x="5623560" y="1664208"/>
            <a:ext cx="301752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Low Digital Adoption</a:t>
            </a:r>
            <a:endParaRPr lang="en-US" sz="1200" dirty="0"/>
          </a:p>
        </p:txBody>
      </p:sp>
      <p:sp>
        <p:nvSpPr>
          <p:cNvPr id="14" name="Text 12"/>
          <p:cNvSpPr/>
          <p:nvPr/>
        </p:nvSpPr>
        <p:spPr>
          <a:xfrm>
            <a:off x="4892040" y="2103120"/>
            <a:ext cx="3749040" cy="59436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of SBI customers use only physical branches, missing digital banking benefits</a:t>
            </a:r>
            <a:endParaRPr lang="en-US" sz="1050" dirty="0"/>
          </a:p>
        </p:txBody>
      </p:sp>
      <p:sp>
        <p:nvSpPr>
          <p:cNvPr id="15" name="Shape 13"/>
          <p:cNvSpPr/>
          <p:nvPr/>
        </p:nvSpPr>
        <p:spPr>
          <a:xfrm>
            <a:off x="320040" y="2971800"/>
            <a:ext cx="4114800" cy="1691640"/>
          </a:xfrm>
          <a:prstGeom prst="roundRect">
            <a:avLst>
              <a:gd name="adj" fmla="val 648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502920" y="3474720"/>
            <a:ext cx="548640" cy="548640"/>
          </a:xfrm>
          <a:prstGeom prst="ellipse">
            <a:avLst/>
          </a:prstGeom>
          <a:solidFill>
            <a:srgbClr val="1A56BB">
              <a:alpha val="85000"/>
            </a:srgbClr>
          </a:solidFill>
          <a:ln w="12700">
            <a:solidFill>
              <a:srgbClr val="1A56BB"/>
            </a:solidFill>
            <a:prstDash val="solid"/>
          </a:ln>
        </p:spPr>
      </p:sp>
      <p:sp>
        <p:nvSpPr>
          <p:cNvPr id="17" name="Text 15"/>
          <p:cNvSpPr/>
          <p:nvPr/>
        </p:nvSpPr>
        <p:spPr>
          <a:xfrm>
            <a:off x="1234440" y="3081528"/>
            <a:ext cx="3017520" cy="502920"/>
          </a:xfrm>
          <a:prstGeom prst="rect">
            <a:avLst/>
          </a:prstGeom>
          <a:noFill/>
          <a:ln/>
        </p:spPr>
        <p:txBody>
          <a:bodyPr wrap="square" rtlCol="0" anchor="ctr"/>
          <a:lstStyle/>
          <a:p>
            <a:pPr indent="0" marL="0">
              <a:buNone/>
            </a:pPr>
            <a:r>
              <a:rPr lang="en-US" sz="2800" b="1" dirty="0">
                <a:solidFill>
                  <a:srgbClr val="1A56BB"/>
                </a:solidFill>
                <a:latin typeface="Cambria" pitchFamily="34" charset="0"/>
                <a:ea typeface="Cambria" pitchFamily="34" charset="-122"/>
                <a:cs typeface="Cambria" pitchFamily="34" charset="-120"/>
              </a:rPr>
              <a:t>3x</a:t>
            </a:r>
            <a:endParaRPr lang="en-US" sz="2800" dirty="0"/>
          </a:p>
        </p:txBody>
      </p:sp>
      <p:sp>
        <p:nvSpPr>
          <p:cNvPr id="18" name="Text 16"/>
          <p:cNvSpPr/>
          <p:nvPr/>
        </p:nvSpPr>
        <p:spPr>
          <a:xfrm>
            <a:off x="1234440" y="3538728"/>
            <a:ext cx="301752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Poor Engagement</a:t>
            </a:r>
            <a:endParaRPr lang="en-US" sz="1200" dirty="0"/>
          </a:p>
        </p:txBody>
      </p:sp>
      <p:sp>
        <p:nvSpPr>
          <p:cNvPr id="19" name="Text 17"/>
          <p:cNvSpPr/>
          <p:nvPr/>
        </p:nvSpPr>
        <p:spPr>
          <a:xfrm>
            <a:off x="502920" y="3977640"/>
            <a:ext cx="3749040" cy="59436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higher churn among customers who don't receive personalized banking guidance</a:t>
            </a:r>
            <a:endParaRPr lang="en-US" sz="1050" dirty="0"/>
          </a:p>
        </p:txBody>
      </p:sp>
      <p:sp>
        <p:nvSpPr>
          <p:cNvPr id="20" name="Shape 18"/>
          <p:cNvSpPr/>
          <p:nvPr/>
        </p:nvSpPr>
        <p:spPr>
          <a:xfrm>
            <a:off x="4709160" y="2971800"/>
            <a:ext cx="4114800" cy="1691640"/>
          </a:xfrm>
          <a:prstGeom prst="roundRect">
            <a:avLst>
              <a:gd name="adj" fmla="val 648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892040" y="3474720"/>
            <a:ext cx="548640" cy="548640"/>
          </a:xfrm>
          <a:prstGeom prst="ellipse">
            <a:avLst/>
          </a:prstGeom>
          <a:solidFill>
            <a:srgbClr val="10B981">
              <a:alpha val="85000"/>
            </a:srgbClr>
          </a:solidFill>
          <a:ln w="12700">
            <a:solidFill>
              <a:srgbClr val="10B981"/>
            </a:solidFill>
            <a:prstDash val="solid"/>
          </a:ln>
        </p:spPr>
      </p:sp>
      <p:sp>
        <p:nvSpPr>
          <p:cNvPr id="22" name="Text 20"/>
          <p:cNvSpPr/>
          <p:nvPr/>
        </p:nvSpPr>
        <p:spPr>
          <a:xfrm>
            <a:off x="5623560" y="3081528"/>
            <a:ext cx="3017520" cy="502920"/>
          </a:xfrm>
          <a:prstGeom prst="rect">
            <a:avLst/>
          </a:prstGeom>
          <a:noFill/>
          <a:ln/>
        </p:spPr>
        <p:txBody>
          <a:bodyPr wrap="square" rtlCol="0" anchor="ctr"/>
          <a:lstStyle/>
          <a:p>
            <a:pPr indent="0" marL="0">
              <a:buNone/>
            </a:pPr>
            <a:r>
              <a:rPr lang="en-US" sz="2800" b="1" dirty="0">
                <a:solidFill>
                  <a:srgbClr val="10B981"/>
                </a:solidFill>
                <a:latin typeface="Cambria" pitchFamily="34" charset="0"/>
                <a:ea typeface="Cambria" pitchFamily="34" charset="-122"/>
                <a:cs typeface="Cambria" pitchFamily="34" charset="-120"/>
              </a:rPr>
              <a:t>₹2,800</a:t>
            </a:r>
            <a:endParaRPr lang="en-US" sz="2800" dirty="0"/>
          </a:p>
        </p:txBody>
      </p:sp>
      <p:sp>
        <p:nvSpPr>
          <p:cNvPr id="23" name="Text 21"/>
          <p:cNvSpPr/>
          <p:nvPr/>
        </p:nvSpPr>
        <p:spPr>
          <a:xfrm>
            <a:off x="5623560" y="3538728"/>
            <a:ext cx="301752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High Acquisition Costs</a:t>
            </a:r>
            <a:endParaRPr lang="en-US" sz="1200" dirty="0"/>
          </a:p>
        </p:txBody>
      </p:sp>
      <p:sp>
        <p:nvSpPr>
          <p:cNvPr id="24" name="Text 22"/>
          <p:cNvSpPr/>
          <p:nvPr/>
        </p:nvSpPr>
        <p:spPr>
          <a:xfrm>
            <a:off x="4892040" y="3977640"/>
            <a:ext cx="3749040" cy="59436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average cost to acquire a new digital banking customer through traditional channels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F1D1D"/>
          </a:solidFill>
          <a:ln w="12700">
            <a:solidFill>
              <a:srgbClr val="7F1D1D"/>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FCA5A5"/>
                </a:solidFill>
                <a:latin typeface="Calibri" pitchFamily="34" charset="0"/>
                <a:ea typeface="Calibri" pitchFamily="34" charset="-122"/>
                <a:cs typeface="Calibri" pitchFamily="34" charset="-120"/>
              </a:rPr>
              <a:t>WHY CURRENT SOLUTIONS FAIL</a:t>
            </a:r>
            <a:endParaRPr lang="en-US" sz="1100" dirty="0"/>
          </a:p>
        </p:txBody>
      </p:sp>
      <p:sp>
        <p:nvSpPr>
          <p:cNvPr id="4" name="Text 2"/>
          <p:cNvSpPr/>
          <p:nvPr/>
        </p:nvSpPr>
        <p:spPr>
          <a:xfrm>
            <a:off x="365760" y="384048"/>
            <a:ext cx="64008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Chatbot Illusion</a:t>
            </a:r>
            <a:endParaRPr lang="en-US" sz="2400" dirty="0"/>
          </a:p>
        </p:txBody>
      </p:sp>
      <p:sp>
        <p:nvSpPr>
          <p:cNvPr id="5" name="Shape 3"/>
          <p:cNvSpPr/>
          <p:nvPr/>
        </p:nvSpPr>
        <p:spPr>
          <a:xfrm>
            <a:off x="320040" y="1161288"/>
            <a:ext cx="320040" cy="320040"/>
          </a:xfrm>
          <a:prstGeom prst="ellipse">
            <a:avLst/>
          </a:prstGeom>
          <a:solidFill>
            <a:srgbClr val="EF4444"/>
          </a:solidFill>
          <a:ln w="12700">
            <a:solidFill>
              <a:srgbClr val="EF4444"/>
            </a:solidFill>
            <a:prstDash val="solid"/>
          </a:ln>
        </p:spPr>
      </p:sp>
      <p:sp>
        <p:nvSpPr>
          <p:cNvPr id="6" name="Text 4"/>
          <p:cNvSpPr/>
          <p:nvPr/>
        </p:nvSpPr>
        <p:spPr>
          <a:xfrm>
            <a:off x="320040" y="1161288"/>
            <a:ext cx="320040" cy="320040"/>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7" name="Text 5"/>
          <p:cNvSpPr/>
          <p:nvPr/>
        </p:nvSpPr>
        <p:spPr>
          <a:xfrm>
            <a:off x="777240" y="114300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Reactive Chatbots</a:t>
            </a:r>
            <a:endParaRPr lang="en-US" sz="1300" dirty="0"/>
          </a:p>
        </p:txBody>
      </p:sp>
      <p:sp>
        <p:nvSpPr>
          <p:cNvPr id="8" name="Text 6"/>
          <p:cNvSpPr/>
          <p:nvPr/>
        </p:nvSpPr>
        <p:spPr>
          <a:xfrm>
            <a:off x="777240" y="1435608"/>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Wait for customer queries instead of proactively guiding them through key milestones</a:t>
            </a:r>
            <a:endParaRPr lang="en-US" sz="1050" dirty="0"/>
          </a:p>
        </p:txBody>
      </p:sp>
      <p:sp>
        <p:nvSpPr>
          <p:cNvPr id="9" name="Shape 7"/>
          <p:cNvSpPr/>
          <p:nvPr/>
        </p:nvSpPr>
        <p:spPr>
          <a:xfrm>
            <a:off x="320040" y="2121408"/>
            <a:ext cx="320040" cy="320040"/>
          </a:xfrm>
          <a:prstGeom prst="ellipse">
            <a:avLst/>
          </a:prstGeom>
          <a:solidFill>
            <a:srgbClr val="EF4444"/>
          </a:solidFill>
          <a:ln w="12700">
            <a:solidFill>
              <a:srgbClr val="EF4444"/>
            </a:solidFill>
            <a:prstDash val="solid"/>
          </a:ln>
        </p:spPr>
      </p:sp>
      <p:sp>
        <p:nvSpPr>
          <p:cNvPr id="10" name="Text 8"/>
          <p:cNvSpPr/>
          <p:nvPr/>
        </p:nvSpPr>
        <p:spPr>
          <a:xfrm>
            <a:off x="320040" y="2121408"/>
            <a:ext cx="320040" cy="320040"/>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1" name="Text 9"/>
          <p:cNvSpPr/>
          <p:nvPr/>
        </p:nvSpPr>
        <p:spPr>
          <a:xfrm>
            <a:off x="777240" y="210312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Generic Notifications</a:t>
            </a:r>
            <a:endParaRPr lang="en-US" sz="1300" dirty="0"/>
          </a:p>
        </p:txBody>
      </p:sp>
      <p:sp>
        <p:nvSpPr>
          <p:cNvPr id="12" name="Text 10"/>
          <p:cNvSpPr/>
          <p:nvPr/>
        </p:nvSpPr>
        <p:spPr>
          <a:xfrm>
            <a:off x="777240" y="2395728"/>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Mass SMS/email blasts with zero personalization — ignored by 92% of recipients</a:t>
            </a:r>
            <a:endParaRPr lang="en-US" sz="1050" dirty="0"/>
          </a:p>
        </p:txBody>
      </p:sp>
      <p:sp>
        <p:nvSpPr>
          <p:cNvPr id="13" name="Shape 11"/>
          <p:cNvSpPr/>
          <p:nvPr/>
        </p:nvSpPr>
        <p:spPr>
          <a:xfrm>
            <a:off x="320040" y="3081528"/>
            <a:ext cx="320040" cy="320040"/>
          </a:xfrm>
          <a:prstGeom prst="ellipse">
            <a:avLst/>
          </a:prstGeom>
          <a:solidFill>
            <a:srgbClr val="EF4444"/>
          </a:solidFill>
          <a:ln w="12700">
            <a:solidFill>
              <a:srgbClr val="EF4444"/>
            </a:solidFill>
            <a:prstDash val="solid"/>
          </a:ln>
        </p:spPr>
      </p:sp>
      <p:sp>
        <p:nvSpPr>
          <p:cNvPr id="14" name="Text 12"/>
          <p:cNvSpPr/>
          <p:nvPr/>
        </p:nvSpPr>
        <p:spPr>
          <a:xfrm>
            <a:off x="320040" y="3081528"/>
            <a:ext cx="320040" cy="320040"/>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5" name="Text 13"/>
          <p:cNvSpPr/>
          <p:nvPr/>
        </p:nvSpPr>
        <p:spPr>
          <a:xfrm>
            <a:off x="777240" y="306324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One-Size-Fits-All</a:t>
            </a:r>
            <a:endParaRPr lang="en-US" sz="1300" dirty="0"/>
          </a:p>
        </p:txBody>
      </p:sp>
      <p:sp>
        <p:nvSpPr>
          <p:cNvPr id="16" name="Text 14"/>
          <p:cNvSpPr/>
          <p:nvPr/>
        </p:nvSpPr>
        <p:spPr>
          <a:xfrm>
            <a:off x="777240" y="3355848"/>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Same onboarding flow for a rural farmer and an urban professional — both get frustrated</a:t>
            </a:r>
            <a:endParaRPr lang="en-US" sz="1050" dirty="0"/>
          </a:p>
        </p:txBody>
      </p:sp>
      <p:sp>
        <p:nvSpPr>
          <p:cNvPr id="17" name="Shape 15"/>
          <p:cNvSpPr/>
          <p:nvPr/>
        </p:nvSpPr>
        <p:spPr>
          <a:xfrm>
            <a:off x="320040" y="4041648"/>
            <a:ext cx="320040" cy="320040"/>
          </a:xfrm>
          <a:prstGeom prst="ellipse">
            <a:avLst/>
          </a:prstGeom>
          <a:solidFill>
            <a:srgbClr val="EF4444"/>
          </a:solidFill>
          <a:ln w="12700">
            <a:solidFill>
              <a:srgbClr val="EF4444"/>
            </a:solidFill>
            <a:prstDash val="solid"/>
          </a:ln>
        </p:spPr>
      </p:sp>
      <p:sp>
        <p:nvSpPr>
          <p:cNvPr id="18" name="Text 16"/>
          <p:cNvSpPr/>
          <p:nvPr/>
        </p:nvSpPr>
        <p:spPr>
          <a:xfrm>
            <a:off x="320040" y="4041648"/>
            <a:ext cx="320040" cy="320040"/>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9" name="Text 17"/>
          <p:cNvSpPr/>
          <p:nvPr/>
        </p:nvSpPr>
        <p:spPr>
          <a:xfrm>
            <a:off x="777240" y="402336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No Behavioral Learning</a:t>
            </a:r>
            <a:endParaRPr lang="en-US" sz="1300" dirty="0"/>
          </a:p>
        </p:txBody>
      </p:sp>
      <p:sp>
        <p:nvSpPr>
          <p:cNvPr id="20" name="Text 18"/>
          <p:cNvSpPr/>
          <p:nvPr/>
        </p:nvSpPr>
        <p:spPr>
          <a:xfrm>
            <a:off x="777240" y="4315968"/>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Cannot adapt in real-time to customer behavior patterns or predict future needs</a:t>
            </a:r>
            <a:endParaRPr lang="en-US" sz="1050" dirty="0"/>
          </a:p>
        </p:txBody>
      </p:sp>
      <p:sp>
        <p:nvSpPr>
          <p:cNvPr id="21" name="Shape 19"/>
          <p:cNvSpPr/>
          <p:nvPr/>
        </p:nvSpPr>
        <p:spPr>
          <a:xfrm>
            <a:off x="4892040" y="1051560"/>
            <a:ext cx="3931920" cy="3749040"/>
          </a:xfrm>
          <a:prstGeom prst="roundRect">
            <a:avLst>
              <a:gd name="adj" fmla="val 292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074920" y="1188720"/>
            <a:ext cx="3566160" cy="347472"/>
          </a:xfrm>
          <a:prstGeom prst="rect">
            <a:avLst/>
          </a:prstGeom>
          <a:noFill/>
          <a:ln/>
        </p:spPr>
        <p:txBody>
          <a:bodyPr wrap="square" rtlCol="0" anchor="ctr"/>
          <a:lstStyle/>
          <a:p>
            <a:pPr algn="ctr" indent="0" marL="0">
              <a:buNone/>
            </a:pPr>
            <a:r>
              <a:rPr lang="en-US" sz="1300" b="1" dirty="0">
                <a:solidFill>
                  <a:srgbClr val="0A2D6E"/>
                </a:solidFill>
                <a:latin typeface="Cambria" pitchFamily="34" charset="0"/>
                <a:ea typeface="Cambria" pitchFamily="34" charset="-122"/>
                <a:cs typeface="Cambria" pitchFamily="34" charset="-120"/>
              </a:rPr>
              <a:t>Traditional vs. Agentic</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0" y="1600200"/>
          <a:ext cx="3611880" cy="3017520"/>
        </p:xfrm>
        <a:graphic>
          <a:graphicData uri="http://schemas.openxmlformats.org/drawingml/2006/table">
            <a:tbl>
              <a:tblPr/>
              <a:tblGrid>
                <a:gridCol w="1417320"/>
                <a:gridCol w="1097280"/>
                <a:gridCol w="1143000"/>
              </a:tblGrid>
              <a:tr h="502920">
                <a:tc>
                  <a:txBody>
                    <a:bodyPr/>
                    <a:lstStyle/>
                    <a:p>
                      <a:pPr algn="ctr" indent="0" marL="0">
                        <a:buNone/>
                      </a:pPr>
                      <a:r>
                        <a:rPr lang="en-US" sz="1000" b="1" dirty="0">
                          <a:solidFill>
                            <a:srgbClr val="FFFFFF"/>
                          </a:solidFill>
                        </a:rPr>
                        <a:t>Capability</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2D6E"/>
                    </a:solidFill>
                  </a:tcPr>
                </a:tc>
                <a:tc>
                  <a:txBody>
                    <a:bodyPr/>
                    <a:lstStyle/>
                    <a:p>
                      <a:pPr algn="ctr" indent="0" marL="0">
                        <a:buNone/>
                      </a:pPr>
                      <a:r>
                        <a:rPr lang="en-US" sz="1000" b="1" dirty="0">
                          <a:solidFill>
                            <a:srgbClr val="FFFFFF"/>
                          </a:solidFill>
                        </a:rPr>
                        <a:t>Traditional</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2D6E"/>
                    </a:solidFill>
                  </a:tcPr>
                </a:tc>
                <a:tc>
                  <a:txBody>
                    <a:bodyPr/>
                    <a:lstStyle/>
                    <a:p>
                      <a:pPr algn="ctr" indent="0" marL="0">
                        <a:buNone/>
                      </a:pPr>
                      <a:r>
                        <a:rPr lang="en-US" sz="1000" b="1" dirty="0">
                          <a:solidFill>
                            <a:srgbClr val="FFFFFF"/>
                          </a:solidFill>
                        </a:rPr>
                        <a:t>Agentic AI</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2D6E"/>
                    </a:solidFill>
                  </a:tcPr>
                </a:tc>
              </a:tr>
              <a:tr h="502920">
                <a:tc>
                  <a:txBody>
                    <a:bodyPr/>
                    <a:lstStyle/>
                    <a:p>
                      <a:pPr algn="ctr" indent="0" marL="0">
                        <a:buNone/>
                      </a:pPr>
                      <a:r>
                        <a:rPr lang="en-US" sz="1000" dirty="0">
                          <a:solidFill>
                            <a:srgbClr val="1E293B"/>
                          </a:solidFill>
                        </a:rPr>
                        <a:t>Initiative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91B1B"/>
                          </a:solidFill>
                        </a:rPr>
                        <a:t>Reactive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Proactive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ctr" indent="0" marL="0">
                        <a:buNone/>
                      </a:pPr>
                      <a:r>
                        <a:rPr lang="en-US" sz="1000" dirty="0">
                          <a:solidFill>
                            <a:srgbClr val="1E293B"/>
                          </a:solidFill>
                        </a:rPr>
                        <a:t>Personalization</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000" dirty="0">
                          <a:solidFill>
                            <a:srgbClr val="991B1B"/>
                          </a:solidFill>
                        </a:rPr>
                        <a:t>None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000" dirty="0">
                          <a:solidFill>
                            <a:srgbClr val="065F46"/>
                          </a:solidFill>
                        </a:rPr>
                        <a:t>Hyper-Personal</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r>
              <a:tr h="502920">
                <a:tc>
                  <a:txBody>
                    <a:bodyPr/>
                    <a:lstStyle/>
                    <a:p>
                      <a:pPr algn="ctr" indent="0" marL="0">
                        <a:buNone/>
                      </a:pPr>
                      <a:r>
                        <a:rPr lang="en-US" sz="1000" dirty="0">
                          <a:solidFill>
                            <a:srgbClr val="1E293B"/>
                          </a:solidFill>
                        </a:rPr>
                        <a:t>Learning</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91B1B"/>
                          </a:solidFill>
                        </a:rPr>
                        <a:t>Static</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Real-time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ctr" indent="0" marL="0">
                        <a:buNone/>
                      </a:pPr>
                      <a:r>
                        <a:rPr lang="en-US" sz="1000" dirty="0">
                          <a:solidFill>
                            <a:srgbClr val="1E293B"/>
                          </a:solidFill>
                        </a:rPr>
                        <a:t>Context</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000" dirty="0">
                          <a:solidFill>
                            <a:srgbClr val="991B1B"/>
                          </a:solidFill>
                        </a:rPr>
                        <a:t>Session only</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000" dirty="0">
                          <a:solidFill>
                            <a:srgbClr val="065F46"/>
                          </a:solidFill>
                        </a:rPr>
                        <a:t>Lifecycle-wide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r>
              <a:tr h="502920">
                <a:tc>
                  <a:txBody>
                    <a:bodyPr/>
                    <a:lstStyle/>
                    <a:p>
                      <a:pPr algn="ctr" indent="0" marL="0">
                        <a:buNone/>
                      </a:pPr>
                      <a:r>
                        <a:rPr lang="en-US" sz="1000" dirty="0">
                          <a:solidFill>
                            <a:srgbClr val="1E293B"/>
                          </a:solidFill>
                        </a:rPr>
                        <a:t>Outcome</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91B1B"/>
                          </a:solidFill>
                        </a:rPr>
                        <a:t>Frustrated user</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Loyal customer</a:t>
                      </a:r>
                      <a:endParaRPr lang="en-US" sz="10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PROPOSED SOLUTION</a:t>
            </a:r>
            <a:endParaRPr lang="en-US" sz="1100" dirty="0"/>
          </a:p>
        </p:txBody>
      </p:sp>
      <p:sp>
        <p:nvSpPr>
          <p:cNvPr id="4" name="Text 2"/>
          <p:cNvSpPr/>
          <p:nvPr/>
        </p:nvSpPr>
        <p:spPr>
          <a:xfrm>
            <a:off x="365760" y="384048"/>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SBI SmartLife Agent</a:t>
            </a:r>
            <a:endParaRPr lang="en-US" sz="2600" dirty="0"/>
          </a:p>
        </p:txBody>
      </p:sp>
      <p:sp>
        <p:nvSpPr>
          <p:cNvPr id="5" name="Shape 3"/>
          <p:cNvSpPr/>
          <p:nvPr/>
        </p:nvSpPr>
        <p:spPr>
          <a:xfrm>
            <a:off x="228600" y="1078992"/>
            <a:ext cx="2029968" cy="3749040"/>
          </a:xfrm>
          <a:prstGeom prst="roundRect">
            <a:avLst>
              <a:gd name="adj" fmla="val 540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28600" y="1078992"/>
            <a:ext cx="2029968" cy="640080"/>
          </a:xfrm>
          <a:prstGeom prst="rect">
            <a:avLst/>
          </a:prstGeom>
          <a:solidFill>
            <a:srgbClr val="1A56BB"/>
          </a:solidFill>
          <a:ln w="12700">
            <a:solidFill>
              <a:srgbClr val="1A56BB"/>
            </a:solidFill>
            <a:prstDash val="solid"/>
          </a:ln>
        </p:spPr>
      </p:sp>
      <p:sp>
        <p:nvSpPr>
          <p:cNvPr id="7" name="Shape 5"/>
          <p:cNvSpPr/>
          <p:nvPr/>
        </p:nvSpPr>
        <p:spPr>
          <a:xfrm>
            <a:off x="228600" y="1078992"/>
            <a:ext cx="2029968" cy="749808"/>
          </a:xfrm>
          <a:prstGeom prst="roundRect">
            <a:avLst>
              <a:gd name="adj" fmla="val 14634"/>
            </a:avLst>
          </a:prstGeom>
          <a:solidFill>
            <a:srgbClr val="1A56BB"/>
          </a:solidFill>
          <a:ln w="12700">
            <a:solidFill>
              <a:srgbClr val="1A56BB"/>
            </a:solidFill>
            <a:prstDash val="solid"/>
          </a:ln>
        </p:spPr>
      </p:sp>
      <p:sp>
        <p:nvSpPr>
          <p:cNvPr id="8" name="Text 6"/>
          <p:cNvSpPr/>
          <p:nvPr/>
        </p:nvSpPr>
        <p:spPr>
          <a:xfrm>
            <a:off x="228600" y="1078992"/>
            <a:ext cx="202996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320040" y="1664208"/>
            <a:ext cx="1847088" cy="685800"/>
          </a:xfrm>
          <a:prstGeom prst="rect">
            <a:avLst/>
          </a:prstGeom>
          <a:noFill/>
          <a:ln/>
        </p:spPr>
        <p:txBody>
          <a:bodyPr wrap="square"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Multi-Agent</a:t>
            </a:r>
            <a:endParaRPr lang="en-US" sz="1200" dirty="0"/>
          </a:p>
          <a:p>
            <a:pPr algn="ctr" indent="0" marL="0">
              <a:buNone/>
            </a:pPr>
            <a:r>
              <a:rPr lang="en-US" sz="1200" b="1" dirty="0">
                <a:solidFill>
                  <a:srgbClr val="1E293B"/>
                </a:solidFill>
                <a:latin typeface="Cambria" pitchFamily="34" charset="0"/>
                <a:ea typeface="Cambria" pitchFamily="34" charset="-122"/>
                <a:cs typeface="Cambria" pitchFamily="34" charset="-120"/>
              </a:rPr>
              <a:t>AI Ecosystem</a:t>
            </a:r>
            <a:endParaRPr lang="en-US" sz="1200" dirty="0"/>
          </a:p>
        </p:txBody>
      </p:sp>
      <p:sp>
        <p:nvSpPr>
          <p:cNvPr id="10" name="Text 8"/>
          <p:cNvSpPr/>
          <p:nvPr/>
        </p:nvSpPr>
        <p:spPr>
          <a:xfrm>
            <a:off x="320040" y="2395728"/>
            <a:ext cx="1847088"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5 specialized AI agents collaborate autonomously, each owning a distinct stage of the customer journey</a:t>
            </a:r>
            <a:endParaRPr lang="en-US" sz="1000" dirty="0"/>
          </a:p>
        </p:txBody>
      </p:sp>
      <p:sp>
        <p:nvSpPr>
          <p:cNvPr id="11" name="Shape 9"/>
          <p:cNvSpPr/>
          <p:nvPr/>
        </p:nvSpPr>
        <p:spPr>
          <a:xfrm>
            <a:off x="2441448" y="1078992"/>
            <a:ext cx="2029968" cy="3749040"/>
          </a:xfrm>
          <a:prstGeom prst="roundRect">
            <a:avLst>
              <a:gd name="adj" fmla="val 540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2441448" y="1078992"/>
            <a:ext cx="2029968" cy="640080"/>
          </a:xfrm>
          <a:prstGeom prst="rect">
            <a:avLst/>
          </a:prstGeom>
          <a:solidFill>
            <a:srgbClr val="0D9488"/>
          </a:solidFill>
          <a:ln w="12700">
            <a:solidFill>
              <a:srgbClr val="0D9488"/>
            </a:solidFill>
            <a:prstDash val="solid"/>
          </a:ln>
        </p:spPr>
      </p:sp>
      <p:sp>
        <p:nvSpPr>
          <p:cNvPr id="13" name="Shape 11"/>
          <p:cNvSpPr/>
          <p:nvPr/>
        </p:nvSpPr>
        <p:spPr>
          <a:xfrm>
            <a:off x="2441448" y="1078992"/>
            <a:ext cx="2029968" cy="749808"/>
          </a:xfrm>
          <a:prstGeom prst="roundRect">
            <a:avLst>
              <a:gd name="adj" fmla="val 14634"/>
            </a:avLst>
          </a:prstGeom>
          <a:solidFill>
            <a:srgbClr val="0D9488"/>
          </a:solidFill>
          <a:ln w="12700">
            <a:solidFill>
              <a:srgbClr val="0D9488"/>
            </a:solidFill>
            <a:prstDash val="solid"/>
          </a:ln>
        </p:spPr>
      </p:sp>
      <p:sp>
        <p:nvSpPr>
          <p:cNvPr id="14" name="Text 12"/>
          <p:cNvSpPr/>
          <p:nvPr/>
        </p:nvSpPr>
        <p:spPr>
          <a:xfrm>
            <a:off x="2441448" y="1078992"/>
            <a:ext cx="202996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2532888" y="1664208"/>
            <a:ext cx="1847088" cy="685800"/>
          </a:xfrm>
          <a:prstGeom prst="rect">
            <a:avLst/>
          </a:prstGeom>
          <a:noFill/>
          <a:ln/>
        </p:spPr>
        <p:txBody>
          <a:bodyPr wrap="square"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Customer</a:t>
            </a:r>
            <a:endParaRPr lang="en-US" sz="1200" dirty="0"/>
          </a:p>
          <a:p>
            <a:pPr algn="ctr" indent="0" marL="0">
              <a:buNone/>
            </a:pPr>
            <a:r>
              <a:rPr lang="en-US" sz="1200" b="1" dirty="0">
                <a:solidFill>
                  <a:srgbClr val="1E293B"/>
                </a:solidFill>
                <a:latin typeface="Cambria" pitchFamily="34" charset="0"/>
                <a:ea typeface="Cambria" pitchFamily="34" charset="-122"/>
                <a:cs typeface="Cambria" pitchFamily="34" charset="-120"/>
              </a:rPr>
              <a:t>Digital Twin</a:t>
            </a:r>
            <a:endParaRPr lang="en-US" sz="1200" dirty="0"/>
          </a:p>
        </p:txBody>
      </p:sp>
      <p:sp>
        <p:nvSpPr>
          <p:cNvPr id="16" name="Text 14"/>
          <p:cNvSpPr/>
          <p:nvPr/>
        </p:nvSpPr>
        <p:spPr>
          <a:xfrm>
            <a:off x="2532888" y="2395728"/>
            <a:ext cx="1847088"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 living AI model of every customer — behavior, preferences, financial goals, and usage patterns</a:t>
            </a:r>
            <a:endParaRPr lang="en-US" sz="1000" dirty="0"/>
          </a:p>
        </p:txBody>
      </p:sp>
      <p:sp>
        <p:nvSpPr>
          <p:cNvPr id="17" name="Shape 15"/>
          <p:cNvSpPr/>
          <p:nvPr/>
        </p:nvSpPr>
        <p:spPr>
          <a:xfrm>
            <a:off x="4654296" y="1078992"/>
            <a:ext cx="2029968" cy="3749040"/>
          </a:xfrm>
          <a:prstGeom prst="roundRect">
            <a:avLst>
              <a:gd name="adj" fmla="val 540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4654296" y="1078992"/>
            <a:ext cx="2029968" cy="640080"/>
          </a:xfrm>
          <a:prstGeom prst="rect">
            <a:avLst/>
          </a:prstGeom>
          <a:solidFill>
            <a:srgbClr val="F59E0B"/>
          </a:solidFill>
          <a:ln w="12700">
            <a:solidFill>
              <a:srgbClr val="F59E0B"/>
            </a:solidFill>
            <a:prstDash val="solid"/>
          </a:ln>
        </p:spPr>
      </p:sp>
      <p:sp>
        <p:nvSpPr>
          <p:cNvPr id="19" name="Shape 17"/>
          <p:cNvSpPr/>
          <p:nvPr/>
        </p:nvSpPr>
        <p:spPr>
          <a:xfrm>
            <a:off x="4654296" y="1078992"/>
            <a:ext cx="2029968" cy="749808"/>
          </a:xfrm>
          <a:prstGeom prst="roundRect">
            <a:avLst>
              <a:gd name="adj" fmla="val 14634"/>
            </a:avLst>
          </a:prstGeom>
          <a:solidFill>
            <a:srgbClr val="F59E0B"/>
          </a:solidFill>
          <a:ln w="12700">
            <a:solidFill>
              <a:srgbClr val="F59E0B"/>
            </a:solidFill>
            <a:prstDash val="solid"/>
          </a:ln>
        </p:spPr>
      </p:sp>
      <p:sp>
        <p:nvSpPr>
          <p:cNvPr id="20" name="Text 18"/>
          <p:cNvSpPr/>
          <p:nvPr/>
        </p:nvSpPr>
        <p:spPr>
          <a:xfrm>
            <a:off x="4654296" y="1078992"/>
            <a:ext cx="202996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4745736" y="1664208"/>
            <a:ext cx="1847088" cy="685800"/>
          </a:xfrm>
          <a:prstGeom prst="rect">
            <a:avLst/>
          </a:prstGeom>
          <a:noFill/>
          <a:ln/>
        </p:spPr>
        <p:txBody>
          <a:bodyPr wrap="square"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Personalized</a:t>
            </a:r>
            <a:endParaRPr lang="en-US" sz="1200" dirty="0"/>
          </a:p>
          <a:p>
            <a:pPr algn="ctr" indent="0" marL="0">
              <a:buNone/>
            </a:pPr>
            <a:r>
              <a:rPr lang="en-US" sz="1200" b="1" dirty="0">
                <a:solidFill>
                  <a:srgbClr val="1E293B"/>
                </a:solidFill>
                <a:latin typeface="Cambria" pitchFamily="34" charset="0"/>
                <a:ea typeface="Cambria" pitchFamily="34" charset="-122"/>
                <a:cs typeface="Cambria" pitchFamily="34" charset="-120"/>
              </a:rPr>
              <a:t>Financial Journeys</a:t>
            </a:r>
            <a:endParaRPr lang="en-US" sz="1200" dirty="0"/>
          </a:p>
        </p:txBody>
      </p:sp>
      <p:sp>
        <p:nvSpPr>
          <p:cNvPr id="22" name="Text 20"/>
          <p:cNvSpPr/>
          <p:nvPr/>
        </p:nvSpPr>
        <p:spPr>
          <a:xfrm>
            <a:off x="4745736" y="2395728"/>
            <a:ext cx="1847088"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Dynamic, adaptive pathways tailored to each customer's profile, language, and financial needs</a:t>
            </a:r>
            <a:endParaRPr lang="en-US" sz="1000" dirty="0"/>
          </a:p>
        </p:txBody>
      </p:sp>
      <p:sp>
        <p:nvSpPr>
          <p:cNvPr id="23" name="Shape 21"/>
          <p:cNvSpPr/>
          <p:nvPr/>
        </p:nvSpPr>
        <p:spPr>
          <a:xfrm>
            <a:off x="6867144" y="1078992"/>
            <a:ext cx="2029968" cy="3749040"/>
          </a:xfrm>
          <a:prstGeom prst="roundRect">
            <a:avLst>
              <a:gd name="adj" fmla="val 540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4" name="Shape 22"/>
          <p:cNvSpPr/>
          <p:nvPr/>
        </p:nvSpPr>
        <p:spPr>
          <a:xfrm>
            <a:off x="6867144" y="1078992"/>
            <a:ext cx="2029968" cy="640080"/>
          </a:xfrm>
          <a:prstGeom prst="rect">
            <a:avLst/>
          </a:prstGeom>
          <a:solidFill>
            <a:srgbClr val="8B5CF6"/>
          </a:solidFill>
          <a:ln w="12700">
            <a:solidFill>
              <a:srgbClr val="8B5CF6"/>
            </a:solidFill>
            <a:prstDash val="solid"/>
          </a:ln>
        </p:spPr>
      </p:sp>
      <p:sp>
        <p:nvSpPr>
          <p:cNvPr id="25" name="Shape 23"/>
          <p:cNvSpPr/>
          <p:nvPr/>
        </p:nvSpPr>
        <p:spPr>
          <a:xfrm>
            <a:off x="6867144" y="1078992"/>
            <a:ext cx="2029968" cy="749808"/>
          </a:xfrm>
          <a:prstGeom prst="roundRect">
            <a:avLst>
              <a:gd name="adj" fmla="val 14634"/>
            </a:avLst>
          </a:prstGeom>
          <a:solidFill>
            <a:srgbClr val="8B5CF6"/>
          </a:solidFill>
          <a:ln w="12700">
            <a:solidFill>
              <a:srgbClr val="8B5CF6"/>
            </a:solidFill>
            <a:prstDash val="solid"/>
          </a:ln>
        </p:spPr>
      </p:sp>
      <p:sp>
        <p:nvSpPr>
          <p:cNvPr id="26" name="Text 24"/>
          <p:cNvSpPr/>
          <p:nvPr/>
        </p:nvSpPr>
        <p:spPr>
          <a:xfrm>
            <a:off x="6867144" y="1078992"/>
            <a:ext cx="202996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7" name="Text 25"/>
          <p:cNvSpPr/>
          <p:nvPr/>
        </p:nvSpPr>
        <p:spPr>
          <a:xfrm>
            <a:off x="6958584" y="1664208"/>
            <a:ext cx="1847088" cy="685800"/>
          </a:xfrm>
          <a:prstGeom prst="rect">
            <a:avLst/>
          </a:prstGeom>
          <a:noFill/>
          <a:ln/>
        </p:spPr>
        <p:txBody>
          <a:bodyPr wrap="square"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Proactive</a:t>
            </a:r>
            <a:endParaRPr lang="en-US" sz="1200" dirty="0"/>
          </a:p>
          <a:p>
            <a:pPr algn="ctr" indent="0" marL="0">
              <a:buNone/>
            </a:pPr>
            <a:r>
              <a:rPr lang="en-US" sz="1200" b="1" dirty="0">
                <a:solidFill>
                  <a:srgbClr val="1E293B"/>
                </a:solidFill>
                <a:latin typeface="Cambria" pitchFamily="34" charset="0"/>
                <a:ea typeface="Cambria" pitchFamily="34" charset="-122"/>
                <a:cs typeface="Cambria" pitchFamily="34" charset="-120"/>
              </a:rPr>
              <a:t>Engagement Engine</a:t>
            </a:r>
            <a:endParaRPr lang="en-US" sz="1200" dirty="0"/>
          </a:p>
        </p:txBody>
      </p:sp>
      <p:sp>
        <p:nvSpPr>
          <p:cNvPr id="28" name="Text 26"/>
          <p:cNvSpPr/>
          <p:nvPr/>
        </p:nvSpPr>
        <p:spPr>
          <a:xfrm>
            <a:off x="6958584" y="2395728"/>
            <a:ext cx="1847088"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AI predicts the next best action before the customer even realizes they need help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AGENTIC AI ARCHITECTURE</a:t>
            </a:r>
            <a:endParaRPr lang="en-US" sz="1100" dirty="0"/>
          </a:p>
        </p:txBody>
      </p:sp>
      <p:sp>
        <p:nvSpPr>
          <p:cNvPr id="4" name="Text 2"/>
          <p:cNvSpPr/>
          <p:nvPr/>
        </p:nvSpPr>
        <p:spPr>
          <a:xfrm>
            <a:off x="365760" y="384048"/>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 Specialized AI Agents</a:t>
            </a:r>
            <a:endParaRPr lang="en-US" sz="2600" dirty="0"/>
          </a:p>
        </p:txBody>
      </p:sp>
      <p:sp>
        <p:nvSpPr>
          <p:cNvPr id="5" name="Shape 3"/>
          <p:cNvSpPr/>
          <p:nvPr/>
        </p:nvSpPr>
        <p:spPr>
          <a:xfrm>
            <a:off x="3474720" y="1737360"/>
            <a:ext cx="2194560" cy="1463040"/>
          </a:xfrm>
          <a:prstGeom prst="ellipse">
            <a:avLst/>
          </a:prstGeom>
          <a:solidFill>
            <a:srgbClr val="0A2D6E"/>
          </a:solidFill>
          <a:ln w="25400">
            <a:solidFill>
              <a:srgbClr val="F59E0B"/>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474720" y="1737360"/>
            <a:ext cx="2194560" cy="1463040"/>
          </a:xfrm>
          <a:prstGeom prst="rect">
            <a:avLst/>
          </a:prstGeom>
          <a:noFill/>
          <a:ln/>
        </p:spPr>
        <p:txBody>
          <a:bodyPr wrap="square" lIns="0" tIns="0" rIns="0" bIns="0" rtlCol="0" anchor="ctr"/>
          <a:lstStyle/>
          <a:p>
            <a:pPr algn="ctr" indent="0" marL="0">
              <a:buNone/>
            </a:pPr>
            <a:r>
              <a:rPr lang="en-US" sz="1200" b="1" dirty="0">
                <a:solidFill>
                  <a:srgbClr val="F59E0B"/>
                </a:solidFill>
                <a:latin typeface="Cambria" pitchFamily="34" charset="0"/>
                <a:ea typeface="Cambria" pitchFamily="34" charset="-122"/>
                <a:cs typeface="Cambria" pitchFamily="34" charset="-120"/>
              </a:rPr>
              <a:t>AI</a:t>
            </a:r>
            <a:endParaRPr lang="en-US" sz="1200" dirty="0"/>
          </a:p>
          <a:p>
            <a:pPr algn="ctr" indent="0" marL="0">
              <a:buNone/>
            </a:pPr>
            <a:r>
              <a:rPr lang="en-US" sz="1200" b="1" dirty="0">
                <a:solidFill>
                  <a:srgbClr val="F59E0B"/>
                </a:solidFill>
                <a:latin typeface="Cambria" pitchFamily="34" charset="0"/>
                <a:ea typeface="Cambria" pitchFamily="34" charset="-122"/>
                <a:cs typeface="Cambria" pitchFamily="34" charset="-120"/>
              </a:rPr>
              <a:t>Orchestrator</a:t>
            </a:r>
            <a:endParaRPr lang="en-US" sz="1200" dirty="0"/>
          </a:p>
        </p:txBody>
      </p:sp>
      <p:sp>
        <p:nvSpPr>
          <p:cNvPr id="7" name="Shape 5"/>
          <p:cNvSpPr/>
          <p:nvPr/>
        </p:nvSpPr>
        <p:spPr>
          <a:xfrm>
            <a:off x="182880" y="914400"/>
            <a:ext cx="2011680" cy="1051560"/>
          </a:xfrm>
          <a:prstGeom prst="roundRect">
            <a:avLst>
              <a:gd name="adj" fmla="val 8696"/>
            </a:avLst>
          </a:prstGeom>
          <a:solidFill>
            <a:srgbClr val="3B82F6"/>
          </a:solidFill>
          <a:ln w="12700">
            <a:solidFill>
              <a:srgbClr val="3B82F6"/>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228600" y="960120"/>
            <a:ext cx="19202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Onboarding</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a:t>
            </a:r>
            <a:endParaRPr lang="en-US" sz="1050" dirty="0"/>
          </a:p>
        </p:txBody>
      </p:sp>
      <p:sp>
        <p:nvSpPr>
          <p:cNvPr id="9" name="Text 7"/>
          <p:cNvSpPr/>
          <p:nvPr/>
        </p:nvSpPr>
        <p:spPr>
          <a:xfrm>
            <a:off x="228600" y="1444752"/>
            <a:ext cx="1920240" cy="475488"/>
          </a:xfrm>
          <a:prstGeom prst="rect">
            <a:avLst/>
          </a:prstGeom>
          <a:noFill/>
          <a:ln/>
        </p:spPr>
        <p:txBody>
          <a:bodyPr wrap="square" lIns="0" tIns="0" rIns="0" bIns="0" rtlCol="0" anchor="ctr"/>
          <a:lstStyle/>
          <a:p>
            <a:pPr algn="ctr" indent="0" marL="0">
              <a:buNone/>
            </a:pPr>
            <a:r>
              <a:rPr lang="en-US" sz="900" dirty="0">
                <a:solidFill>
                  <a:srgbClr val="E0F0FF"/>
                </a:solidFill>
                <a:latin typeface="Calibri" pitchFamily="34" charset="0"/>
                <a:ea typeface="Calibri" pitchFamily="34" charset="-122"/>
                <a:cs typeface="Calibri" pitchFamily="34" charset="-120"/>
              </a:rPr>
              <a:t>KYC · Account setup · Welcome journey</a:t>
            </a:r>
            <a:endParaRPr lang="en-US" sz="900" dirty="0"/>
          </a:p>
        </p:txBody>
      </p:sp>
      <p:sp>
        <p:nvSpPr>
          <p:cNvPr id="10" name="Shape 8"/>
          <p:cNvSpPr/>
          <p:nvPr/>
        </p:nvSpPr>
        <p:spPr>
          <a:xfrm>
            <a:off x="1188720" y="1440180"/>
            <a:ext cx="3383280" cy="1028700"/>
          </a:xfrm>
          <a:prstGeom prst="line">
            <a:avLst/>
          </a:prstGeom>
          <a:noFill/>
          <a:ln w="15240">
            <a:solidFill>
              <a:srgbClr val="E2E8F0"/>
            </a:solidFill>
            <a:prstDash val="dash"/>
          </a:ln>
        </p:spPr>
      </p:sp>
      <p:sp>
        <p:nvSpPr>
          <p:cNvPr id="11" name="Shape 9"/>
          <p:cNvSpPr/>
          <p:nvPr/>
        </p:nvSpPr>
        <p:spPr>
          <a:xfrm>
            <a:off x="6858000" y="914400"/>
            <a:ext cx="2011680" cy="1051560"/>
          </a:xfrm>
          <a:prstGeom prst="roundRect">
            <a:avLst>
              <a:gd name="adj" fmla="val 8696"/>
            </a:avLst>
          </a:prstGeom>
          <a:solidFill>
            <a:srgbClr val="10B981"/>
          </a:solidFill>
          <a:ln w="12700">
            <a:solidFill>
              <a:srgbClr val="10B98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6903720" y="960120"/>
            <a:ext cx="19202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Adoption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a:t>
            </a:r>
            <a:endParaRPr lang="en-US" sz="1050" dirty="0"/>
          </a:p>
        </p:txBody>
      </p:sp>
      <p:sp>
        <p:nvSpPr>
          <p:cNvPr id="13" name="Text 11"/>
          <p:cNvSpPr/>
          <p:nvPr/>
        </p:nvSpPr>
        <p:spPr>
          <a:xfrm>
            <a:off x="6903720" y="1444752"/>
            <a:ext cx="1920240" cy="475488"/>
          </a:xfrm>
          <a:prstGeom prst="rect">
            <a:avLst/>
          </a:prstGeom>
          <a:noFill/>
          <a:ln/>
        </p:spPr>
        <p:txBody>
          <a:bodyPr wrap="square" lIns="0" tIns="0" rIns="0" bIns="0" rtlCol="0" anchor="ctr"/>
          <a:lstStyle/>
          <a:p>
            <a:pPr algn="ctr" indent="0" marL="0">
              <a:buNone/>
            </a:pPr>
            <a:r>
              <a:rPr lang="en-US" sz="900" dirty="0">
                <a:solidFill>
                  <a:srgbClr val="E0F0FF"/>
                </a:solidFill>
                <a:latin typeface="Calibri" pitchFamily="34" charset="0"/>
                <a:ea typeface="Calibri" pitchFamily="34" charset="-122"/>
                <a:cs typeface="Calibri" pitchFamily="34" charset="-120"/>
              </a:rPr>
              <a:t>UPI · Mobile banking · Feature discovery</a:t>
            </a:r>
            <a:endParaRPr lang="en-US" sz="900" dirty="0"/>
          </a:p>
        </p:txBody>
      </p:sp>
      <p:sp>
        <p:nvSpPr>
          <p:cNvPr id="14" name="Shape 12"/>
          <p:cNvSpPr/>
          <p:nvPr/>
        </p:nvSpPr>
        <p:spPr>
          <a:xfrm flipH="1">
            <a:off x="4572000" y="1440180"/>
            <a:ext cx="3291840" cy="1028700"/>
          </a:xfrm>
          <a:prstGeom prst="line">
            <a:avLst/>
          </a:prstGeom>
          <a:noFill/>
          <a:ln w="15240">
            <a:solidFill>
              <a:srgbClr val="E2E8F0"/>
            </a:solidFill>
            <a:prstDash val="dash"/>
          </a:ln>
        </p:spPr>
      </p:sp>
      <p:sp>
        <p:nvSpPr>
          <p:cNvPr id="15" name="Shape 13"/>
          <p:cNvSpPr/>
          <p:nvPr/>
        </p:nvSpPr>
        <p:spPr>
          <a:xfrm>
            <a:off x="182880" y="3200400"/>
            <a:ext cx="2011680" cy="1051560"/>
          </a:xfrm>
          <a:prstGeom prst="roundRect">
            <a:avLst>
              <a:gd name="adj" fmla="val 8696"/>
            </a:avLst>
          </a:prstGeom>
          <a:solidFill>
            <a:srgbClr val="8B5CF6"/>
          </a:solidFill>
          <a:ln w="12700">
            <a:solidFill>
              <a:srgbClr val="8B5CF6"/>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228600" y="3246120"/>
            <a:ext cx="19202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Engagement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a:t>
            </a:r>
            <a:endParaRPr lang="en-US" sz="1050" dirty="0"/>
          </a:p>
        </p:txBody>
      </p:sp>
      <p:sp>
        <p:nvSpPr>
          <p:cNvPr id="17" name="Text 15"/>
          <p:cNvSpPr/>
          <p:nvPr/>
        </p:nvSpPr>
        <p:spPr>
          <a:xfrm>
            <a:off x="228600" y="3730752"/>
            <a:ext cx="1920240" cy="475488"/>
          </a:xfrm>
          <a:prstGeom prst="rect">
            <a:avLst/>
          </a:prstGeom>
          <a:noFill/>
          <a:ln/>
        </p:spPr>
        <p:txBody>
          <a:bodyPr wrap="square" lIns="0" tIns="0" rIns="0" bIns="0" rtlCol="0" anchor="ctr"/>
          <a:lstStyle/>
          <a:p>
            <a:pPr algn="ctr" indent="0" marL="0">
              <a:buNone/>
            </a:pPr>
            <a:r>
              <a:rPr lang="en-US" sz="900" dirty="0">
                <a:solidFill>
                  <a:srgbClr val="E0F0FF"/>
                </a:solidFill>
                <a:latin typeface="Calibri" pitchFamily="34" charset="0"/>
                <a:ea typeface="Calibri" pitchFamily="34" charset="-122"/>
                <a:cs typeface="Calibri" pitchFamily="34" charset="-120"/>
              </a:rPr>
              <a:t>Nudges · Milestones · Re-engagement</a:t>
            </a:r>
            <a:endParaRPr lang="en-US" sz="900" dirty="0"/>
          </a:p>
        </p:txBody>
      </p:sp>
      <p:sp>
        <p:nvSpPr>
          <p:cNvPr id="18" name="Shape 16"/>
          <p:cNvSpPr/>
          <p:nvPr/>
        </p:nvSpPr>
        <p:spPr>
          <a:xfrm flipV="1">
            <a:off x="1188720" y="2468880"/>
            <a:ext cx="3383280" cy="1257300"/>
          </a:xfrm>
          <a:prstGeom prst="line">
            <a:avLst/>
          </a:prstGeom>
          <a:noFill/>
          <a:ln w="15240">
            <a:solidFill>
              <a:srgbClr val="E2E8F0"/>
            </a:solidFill>
            <a:prstDash val="dash"/>
          </a:ln>
        </p:spPr>
      </p:sp>
      <p:sp>
        <p:nvSpPr>
          <p:cNvPr id="19" name="Shape 17"/>
          <p:cNvSpPr/>
          <p:nvPr/>
        </p:nvSpPr>
        <p:spPr>
          <a:xfrm>
            <a:off x="6858000" y="3200400"/>
            <a:ext cx="2011680" cy="1051560"/>
          </a:xfrm>
          <a:prstGeom prst="roundRect">
            <a:avLst>
              <a:gd name="adj" fmla="val 8696"/>
            </a:avLst>
          </a:prstGeom>
          <a:solidFill>
            <a:srgbClr val="F59E0B"/>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903720" y="3246120"/>
            <a:ext cx="19202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Financial Coach</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a:t>
            </a:r>
            <a:endParaRPr lang="en-US" sz="1050" dirty="0"/>
          </a:p>
        </p:txBody>
      </p:sp>
      <p:sp>
        <p:nvSpPr>
          <p:cNvPr id="21" name="Text 19"/>
          <p:cNvSpPr/>
          <p:nvPr/>
        </p:nvSpPr>
        <p:spPr>
          <a:xfrm>
            <a:off x="6903720" y="3730752"/>
            <a:ext cx="1920240" cy="475488"/>
          </a:xfrm>
          <a:prstGeom prst="rect">
            <a:avLst/>
          </a:prstGeom>
          <a:noFill/>
          <a:ln/>
        </p:spPr>
        <p:txBody>
          <a:bodyPr wrap="square" lIns="0" tIns="0" rIns="0" bIns="0" rtlCol="0" anchor="ctr"/>
          <a:lstStyle/>
          <a:p>
            <a:pPr algn="ctr" indent="0" marL="0">
              <a:buNone/>
            </a:pPr>
            <a:r>
              <a:rPr lang="en-US" sz="900" dirty="0">
                <a:solidFill>
                  <a:srgbClr val="E0F0FF"/>
                </a:solidFill>
                <a:latin typeface="Calibri" pitchFamily="34" charset="0"/>
                <a:ea typeface="Calibri" pitchFamily="34" charset="-122"/>
                <a:cs typeface="Calibri" pitchFamily="34" charset="-120"/>
              </a:rPr>
              <a:t>Savings · Goals · Risk profiling</a:t>
            </a:r>
            <a:endParaRPr lang="en-US" sz="900" dirty="0"/>
          </a:p>
        </p:txBody>
      </p:sp>
      <p:sp>
        <p:nvSpPr>
          <p:cNvPr id="22" name="Shape 20"/>
          <p:cNvSpPr/>
          <p:nvPr/>
        </p:nvSpPr>
        <p:spPr>
          <a:xfrm flipH="1" flipV="1">
            <a:off x="4572000" y="2468880"/>
            <a:ext cx="3291840" cy="1257300"/>
          </a:xfrm>
          <a:prstGeom prst="line">
            <a:avLst/>
          </a:prstGeom>
          <a:noFill/>
          <a:ln w="15240">
            <a:solidFill>
              <a:srgbClr val="E2E8F0"/>
            </a:solidFill>
            <a:prstDash val="dash"/>
          </a:ln>
        </p:spPr>
      </p:sp>
      <p:sp>
        <p:nvSpPr>
          <p:cNvPr id="23" name="Shape 21"/>
          <p:cNvSpPr/>
          <p:nvPr/>
        </p:nvSpPr>
        <p:spPr>
          <a:xfrm>
            <a:off x="3566160" y="4114800"/>
            <a:ext cx="2011680" cy="1051560"/>
          </a:xfrm>
          <a:prstGeom prst="roundRect">
            <a:avLst>
              <a:gd name="adj" fmla="val 8696"/>
            </a:avLst>
          </a:prstGeom>
          <a:solidFill>
            <a:srgbClr val="0D9488"/>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3611880" y="4160520"/>
            <a:ext cx="19202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Recommendation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a:t>
            </a:r>
            <a:endParaRPr lang="en-US" sz="1050" dirty="0"/>
          </a:p>
        </p:txBody>
      </p:sp>
      <p:sp>
        <p:nvSpPr>
          <p:cNvPr id="25" name="Text 23"/>
          <p:cNvSpPr/>
          <p:nvPr/>
        </p:nvSpPr>
        <p:spPr>
          <a:xfrm>
            <a:off x="3611880" y="4645152"/>
            <a:ext cx="1920240" cy="475488"/>
          </a:xfrm>
          <a:prstGeom prst="rect">
            <a:avLst/>
          </a:prstGeom>
          <a:noFill/>
          <a:ln/>
        </p:spPr>
        <p:txBody>
          <a:bodyPr wrap="square" lIns="0" tIns="0" rIns="0" bIns="0" rtlCol="0" anchor="ctr"/>
          <a:lstStyle/>
          <a:p>
            <a:pPr algn="ctr" indent="0" marL="0">
              <a:buNone/>
            </a:pPr>
            <a:r>
              <a:rPr lang="en-US" sz="900" dirty="0">
                <a:solidFill>
                  <a:srgbClr val="E0F0FF"/>
                </a:solidFill>
                <a:latin typeface="Calibri" pitchFamily="34" charset="0"/>
                <a:ea typeface="Calibri" pitchFamily="34" charset="-122"/>
                <a:cs typeface="Calibri" pitchFamily="34" charset="-120"/>
              </a:rPr>
              <a:t>Products · Loans · Cross-sell</a:t>
            </a:r>
            <a:endParaRPr lang="en-US" sz="900" dirty="0"/>
          </a:p>
        </p:txBody>
      </p:sp>
      <p:sp>
        <p:nvSpPr>
          <p:cNvPr id="26" name="Shape 24"/>
          <p:cNvSpPr/>
          <p:nvPr/>
        </p:nvSpPr>
        <p:spPr>
          <a:xfrm flipV="1">
            <a:off x="4572000" y="2468880"/>
            <a:ext cx="0" cy="2171700"/>
          </a:xfrm>
          <a:prstGeom prst="line">
            <a:avLst/>
          </a:prstGeom>
          <a:noFill/>
          <a:ln w="15240">
            <a:solidFill>
              <a:srgbClr val="E2E8F0"/>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D6E"/>
        </a:solidFill>
      </p:bgPr>
    </p:bg>
    <p:spTree>
      <p:nvGrpSpPr>
        <p:cNvPr id="1" name=""/>
        <p:cNvGrpSpPr/>
        <p:nvPr/>
      </p:nvGrpSpPr>
      <p:grpSpPr>
        <a:xfrm>
          <a:off x="0" y="0"/>
          <a:ext cx="0" cy="0"/>
          <a:chOff x="0" y="0"/>
          <a:chExt cx="0" cy="0"/>
        </a:xfrm>
      </p:grpSpPr>
      <p:sp>
        <p:nvSpPr>
          <p:cNvPr id="2" name="Text 0"/>
          <p:cNvSpPr/>
          <p:nvPr/>
        </p:nvSpPr>
        <p:spPr>
          <a:xfrm>
            <a:off x="365760" y="182880"/>
            <a:ext cx="8229600" cy="320040"/>
          </a:xfrm>
          <a:prstGeom prst="rect">
            <a:avLst/>
          </a:prstGeom>
          <a:noFill/>
          <a:ln/>
        </p:spPr>
        <p:txBody>
          <a:bodyPr wrap="square" rtlCol="0" anchor="ctr"/>
          <a:lstStyle/>
          <a:p>
            <a:pPr indent="0" marL="0">
              <a:buNone/>
            </a:pPr>
            <a:r>
              <a:rPr lang="en-US" sz="1100" b="1" spc="300" kern="0" dirty="0">
                <a:solidFill>
                  <a:srgbClr val="9DB8DC"/>
                </a:solidFill>
                <a:latin typeface="Calibri" pitchFamily="34" charset="0"/>
                <a:ea typeface="Calibri" pitchFamily="34" charset="-122"/>
                <a:cs typeface="Calibri" pitchFamily="34" charset="-120"/>
              </a:rPr>
              <a:t>PROCESS FLOW</a:t>
            </a:r>
            <a:endParaRPr lang="en-US" sz="1100" dirty="0"/>
          </a:p>
        </p:txBody>
      </p:sp>
      <p:sp>
        <p:nvSpPr>
          <p:cNvPr id="3" name="Text 1"/>
          <p:cNvSpPr/>
          <p:nvPr/>
        </p:nvSpPr>
        <p:spPr>
          <a:xfrm>
            <a:off x="365760" y="475488"/>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From Customer to Continuous Intelligence</a:t>
            </a:r>
            <a:endParaRPr lang="en-US" sz="2400" dirty="0"/>
          </a:p>
        </p:txBody>
      </p:sp>
      <p:sp>
        <p:nvSpPr>
          <p:cNvPr id="4" name="Shape 2"/>
          <p:cNvSpPr/>
          <p:nvPr/>
        </p:nvSpPr>
        <p:spPr>
          <a:xfrm>
            <a:off x="274320" y="1508760"/>
            <a:ext cx="1234440" cy="1371600"/>
          </a:xfrm>
          <a:prstGeom prst="roundRect">
            <a:avLst>
              <a:gd name="adj" fmla="val 7407"/>
            </a:avLst>
          </a:prstGeom>
          <a:solidFill>
            <a:srgbClr val="3B82F6">
              <a:alpha val="90000"/>
            </a:srgbClr>
          </a:solidFill>
          <a:ln w="19050">
            <a:solidFill>
              <a:srgbClr val="3B82F6"/>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690372" y="1581912"/>
            <a:ext cx="402336" cy="402336"/>
          </a:xfrm>
          <a:prstGeom prst="ellipse">
            <a:avLst/>
          </a:prstGeom>
          <a:solidFill>
            <a:srgbClr val="3B82F6"/>
          </a:solidFill>
          <a:ln w="12700">
            <a:solidFill>
              <a:srgbClr val="3B82F6"/>
            </a:solidFill>
            <a:prstDash val="solid"/>
          </a:ln>
        </p:spPr>
      </p:sp>
      <p:sp>
        <p:nvSpPr>
          <p:cNvPr id="6" name="Text 4"/>
          <p:cNvSpPr/>
          <p:nvPr/>
        </p:nvSpPr>
        <p:spPr>
          <a:xfrm>
            <a:off x="690372"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Text 5"/>
          <p:cNvSpPr/>
          <p:nvPr/>
        </p:nvSpPr>
        <p:spPr>
          <a:xfrm>
            <a:off x="320040"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Customer</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Data</a:t>
            </a:r>
            <a:endParaRPr lang="en-US" sz="1000" dirty="0"/>
          </a:p>
        </p:txBody>
      </p:sp>
      <p:sp>
        <p:nvSpPr>
          <p:cNvPr id="8" name="Text 6"/>
          <p:cNvSpPr/>
          <p:nvPr/>
        </p:nvSpPr>
        <p:spPr>
          <a:xfrm>
            <a:off x="320040"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Profile · Behavior</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Transactions · Goals</a:t>
            </a:r>
            <a:endParaRPr lang="en-US" sz="800" dirty="0"/>
          </a:p>
        </p:txBody>
      </p:sp>
      <p:sp>
        <p:nvSpPr>
          <p:cNvPr id="9" name="Shape 7"/>
          <p:cNvSpPr/>
          <p:nvPr/>
        </p:nvSpPr>
        <p:spPr>
          <a:xfrm>
            <a:off x="1554480" y="2194560"/>
            <a:ext cx="192024" cy="0"/>
          </a:xfrm>
          <a:prstGeom prst="line">
            <a:avLst/>
          </a:prstGeom>
          <a:noFill/>
          <a:ln w="19050">
            <a:solidFill>
              <a:srgbClr val="94A3B8"/>
            </a:solidFill>
            <a:prstDash val="solid"/>
          </a:ln>
        </p:spPr>
      </p:sp>
      <p:sp>
        <p:nvSpPr>
          <p:cNvPr id="10" name="Shape 8"/>
          <p:cNvSpPr/>
          <p:nvPr/>
        </p:nvSpPr>
        <p:spPr>
          <a:xfrm>
            <a:off x="1627632" y="2130552"/>
            <a:ext cx="128016" cy="128016"/>
          </a:xfrm>
          <a:prstGeom prst="roundRect">
            <a:avLst>
              <a:gd name="adj" fmla="val 7143"/>
            </a:avLst>
          </a:prstGeom>
          <a:solidFill>
            <a:srgbClr val="94A3B8"/>
          </a:solidFill>
          <a:ln w="12700">
            <a:solidFill>
              <a:srgbClr val="94A3B8"/>
            </a:solidFill>
            <a:prstDash val="solid"/>
          </a:ln>
        </p:spPr>
      </p:sp>
      <p:sp>
        <p:nvSpPr>
          <p:cNvPr id="11" name="Shape 9"/>
          <p:cNvSpPr/>
          <p:nvPr/>
        </p:nvSpPr>
        <p:spPr>
          <a:xfrm>
            <a:off x="1746504" y="1508760"/>
            <a:ext cx="1234440" cy="1371600"/>
          </a:xfrm>
          <a:prstGeom prst="roundRect">
            <a:avLst>
              <a:gd name="adj" fmla="val 7407"/>
            </a:avLst>
          </a:prstGeom>
          <a:solidFill>
            <a:srgbClr val="0D9488">
              <a:alpha val="90000"/>
            </a:srgbClr>
          </a:solidFill>
          <a:ln w="19050">
            <a:solidFill>
              <a:srgbClr val="0D9488"/>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2162556" y="1581912"/>
            <a:ext cx="402336" cy="402336"/>
          </a:xfrm>
          <a:prstGeom prst="ellipse">
            <a:avLst/>
          </a:prstGeom>
          <a:solidFill>
            <a:srgbClr val="0D9488"/>
          </a:solidFill>
          <a:ln w="12700">
            <a:solidFill>
              <a:srgbClr val="0D9488"/>
            </a:solidFill>
            <a:prstDash val="solid"/>
          </a:ln>
        </p:spPr>
      </p:sp>
      <p:sp>
        <p:nvSpPr>
          <p:cNvPr id="13" name="Text 11"/>
          <p:cNvSpPr/>
          <p:nvPr/>
        </p:nvSpPr>
        <p:spPr>
          <a:xfrm>
            <a:off x="2162556"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2"/>
          <p:cNvSpPr/>
          <p:nvPr/>
        </p:nvSpPr>
        <p:spPr>
          <a:xfrm>
            <a:off x="1792224"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Digital</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Twin</a:t>
            </a:r>
            <a:endParaRPr lang="en-US" sz="1000" dirty="0"/>
          </a:p>
        </p:txBody>
      </p:sp>
      <p:sp>
        <p:nvSpPr>
          <p:cNvPr id="15" name="Text 13"/>
          <p:cNvSpPr/>
          <p:nvPr/>
        </p:nvSpPr>
        <p:spPr>
          <a:xfrm>
            <a:off x="1792224"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AI Model · Preferences</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Lifecycle Stage</a:t>
            </a:r>
            <a:endParaRPr lang="en-US" sz="800" dirty="0"/>
          </a:p>
        </p:txBody>
      </p:sp>
      <p:sp>
        <p:nvSpPr>
          <p:cNvPr id="16" name="Shape 14"/>
          <p:cNvSpPr/>
          <p:nvPr/>
        </p:nvSpPr>
        <p:spPr>
          <a:xfrm>
            <a:off x="3026664" y="2194560"/>
            <a:ext cx="192024" cy="0"/>
          </a:xfrm>
          <a:prstGeom prst="line">
            <a:avLst/>
          </a:prstGeom>
          <a:noFill/>
          <a:ln w="19050">
            <a:solidFill>
              <a:srgbClr val="94A3B8"/>
            </a:solidFill>
            <a:prstDash val="solid"/>
          </a:ln>
        </p:spPr>
      </p:sp>
      <p:sp>
        <p:nvSpPr>
          <p:cNvPr id="17" name="Shape 15"/>
          <p:cNvSpPr/>
          <p:nvPr/>
        </p:nvSpPr>
        <p:spPr>
          <a:xfrm>
            <a:off x="3099816" y="2130552"/>
            <a:ext cx="128016" cy="128016"/>
          </a:xfrm>
          <a:prstGeom prst="roundRect">
            <a:avLst>
              <a:gd name="adj" fmla="val 7143"/>
            </a:avLst>
          </a:prstGeom>
          <a:solidFill>
            <a:srgbClr val="94A3B8"/>
          </a:solidFill>
          <a:ln w="12700">
            <a:solidFill>
              <a:srgbClr val="94A3B8"/>
            </a:solidFill>
            <a:prstDash val="solid"/>
          </a:ln>
        </p:spPr>
      </p:sp>
      <p:sp>
        <p:nvSpPr>
          <p:cNvPr id="18" name="Shape 16"/>
          <p:cNvSpPr/>
          <p:nvPr/>
        </p:nvSpPr>
        <p:spPr>
          <a:xfrm>
            <a:off x="3218688" y="1508760"/>
            <a:ext cx="1234440" cy="1371600"/>
          </a:xfrm>
          <a:prstGeom prst="roundRect">
            <a:avLst>
              <a:gd name="adj" fmla="val 7407"/>
            </a:avLst>
          </a:prstGeom>
          <a:solidFill>
            <a:srgbClr val="8B5CF6">
              <a:alpha val="90000"/>
            </a:srgbClr>
          </a:solidFill>
          <a:ln w="19050">
            <a:solidFill>
              <a:srgbClr val="8B5CF6"/>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3634740" y="1581912"/>
            <a:ext cx="402336" cy="402336"/>
          </a:xfrm>
          <a:prstGeom prst="ellipse">
            <a:avLst/>
          </a:prstGeom>
          <a:solidFill>
            <a:srgbClr val="8B5CF6"/>
          </a:solidFill>
          <a:ln w="12700">
            <a:solidFill>
              <a:srgbClr val="8B5CF6"/>
            </a:solidFill>
            <a:prstDash val="solid"/>
          </a:ln>
        </p:spPr>
      </p:sp>
      <p:sp>
        <p:nvSpPr>
          <p:cNvPr id="20" name="Text 18"/>
          <p:cNvSpPr/>
          <p:nvPr/>
        </p:nvSpPr>
        <p:spPr>
          <a:xfrm>
            <a:off x="3634740"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1" name="Text 19"/>
          <p:cNvSpPr/>
          <p:nvPr/>
        </p:nvSpPr>
        <p:spPr>
          <a:xfrm>
            <a:off x="3264408"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AI Agents</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(5x)</a:t>
            </a:r>
            <a:endParaRPr lang="en-US" sz="1000" dirty="0"/>
          </a:p>
        </p:txBody>
      </p:sp>
      <p:sp>
        <p:nvSpPr>
          <p:cNvPr id="22" name="Text 20"/>
          <p:cNvSpPr/>
          <p:nvPr/>
        </p:nvSpPr>
        <p:spPr>
          <a:xfrm>
            <a:off x="3264408"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Orchestrated</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Specialized Tasks</a:t>
            </a:r>
            <a:endParaRPr lang="en-US" sz="800" dirty="0"/>
          </a:p>
        </p:txBody>
      </p:sp>
      <p:sp>
        <p:nvSpPr>
          <p:cNvPr id="23" name="Shape 21"/>
          <p:cNvSpPr/>
          <p:nvPr/>
        </p:nvSpPr>
        <p:spPr>
          <a:xfrm>
            <a:off x="4498848" y="2194560"/>
            <a:ext cx="192024" cy="0"/>
          </a:xfrm>
          <a:prstGeom prst="line">
            <a:avLst/>
          </a:prstGeom>
          <a:noFill/>
          <a:ln w="19050">
            <a:solidFill>
              <a:srgbClr val="94A3B8"/>
            </a:solidFill>
            <a:prstDash val="solid"/>
          </a:ln>
        </p:spPr>
      </p:sp>
      <p:sp>
        <p:nvSpPr>
          <p:cNvPr id="24" name="Shape 22"/>
          <p:cNvSpPr/>
          <p:nvPr/>
        </p:nvSpPr>
        <p:spPr>
          <a:xfrm>
            <a:off x="4572000" y="2130552"/>
            <a:ext cx="128016" cy="128016"/>
          </a:xfrm>
          <a:prstGeom prst="roundRect">
            <a:avLst>
              <a:gd name="adj" fmla="val 7143"/>
            </a:avLst>
          </a:prstGeom>
          <a:solidFill>
            <a:srgbClr val="94A3B8"/>
          </a:solidFill>
          <a:ln w="12700">
            <a:solidFill>
              <a:srgbClr val="94A3B8"/>
            </a:solidFill>
            <a:prstDash val="solid"/>
          </a:ln>
        </p:spPr>
      </p:sp>
      <p:sp>
        <p:nvSpPr>
          <p:cNvPr id="25" name="Shape 23"/>
          <p:cNvSpPr/>
          <p:nvPr/>
        </p:nvSpPr>
        <p:spPr>
          <a:xfrm>
            <a:off x="4690872" y="1508760"/>
            <a:ext cx="1234440" cy="1371600"/>
          </a:xfrm>
          <a:prstGeom prst="roundRect">
            <a:avLst>
              <a:gd name="adj" fmla="val 7407"/>
            </a:avLst>
          </a:prstGeom>
          <a:solidFill>
            <a:srgbClr val="F59E0B">
              <a:alpha val="90000"/>
            </a:srgbClr>
          </a:solidFill>
          <a:ln w="19050">
            <a:solidFill>
              <a:srgbClr val="F59E0B"/>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5106924" y="1581912"/>
            <a:ext cx="402336" cy="402336"/>
          </a:xfrm>
          <a:prstGeom prst="ellipse">
            <a:avLst/>
          </a:prstGeom>
          <a:solidFill>
            <a:srgbClr val="F59E0B"/>
          </a:solidFill>
          <a:ln w="12700">
            <a:solidFill>
              <a:srgbClr val="F59E0B"/>
            </a:solidFill>
            <a:prstDash val="solid"/>
          </a:ln>
        </p:spPr>
      </p:sp>
      <p:sp>
        <p:nvSpPr>
          <p:cNvPr id="27" name="Text 25"/>
          <p:cNvSpPr/>
          <p:nvPr/>
        </p:nvSpPr>
        <p:spPr>
          <a:xfrm>
            <a:off x="5106924"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8" name="Text 26"/>
          <p:cNvSpPr/>
          <p:nvPr/>
        </p:nvSpPr>
        <p:spPr>
          <a:xfrm>
            <a:off x="4736592"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Personalized</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Actions</a:t>
            </a:r>
            <a:endParaRPr lang="en-US" sz="1000" dirty="0"/>
          </a:p>
        </p:txBody>
      </p:sp>
      <p:sp>
        <p:nvSpPr>
          <p:cNvPr id="29" name="Text 27"/>
          <p:cNvSpPr/>
          <p:nvPr/>
        </p:nvSpPr>
        <p:spPr>
          <a:xfrm>
            <a:off x="4736592"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Nudges · Offers</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Guidance · Alerts</a:t>
            </a:r>
            <a:endParaRPr lang="en-US" sz="800" dirty="0"/>
          </a:p>
        </p:txBody>
      </p:sp>
      <p:sp>
        <p:nvSpPr>
          <p:cNvPr id="30" name="Shape 28"/>
          <p:cNvSpPr/>
          <p:nvPr/>
        </p:nvSpPr>
        <p:spPr>
          <a:xfrm>
            <a:off x="5971032" y="2194560"/>
            <a:ext cx="192024" cy="0"/>
          </a:xfrm>
          <a:prstGeom prst="line">
            <a:avLst/>
          </a:prstGeom>
          <a:noFill/>
          <a:ln w="19050">
            <a:solidFill>
              <a:srgbClr val="94A3B8"/>
            </a:solidFill>
            <a:prstDash val="solid"/>
          </a:ln>
        </p:spPr>
      </p:sp>
      <p:sp>
        <p:nvSpPr>
          <p:cNvPr id="31" name="Shape 29"/>
          <p:cNvSpPr/>
          <p:nvPr/>
        </p:nvSpPr>
        <p:spPr>
          <a:xfrm>
            <a:off x="6044184" y="2130552"/>
            <a:ext cx="128016" cy="128016"/>
          </a:xfrm>
          <a:prstGeom prst="roundRect">
            <a:avLst>
              <a:gd name="adj" fmla="val 7143"/>
            </a:avLst>
          </a:prstGeom>
          <a:solidFill>
            <a:srgbClr val="94A3B8"/>
          </a:solidFill>
          <a:ln w="12700">
            <a:solidFill>
              <a:srgbClr val="94A3B8"/>
            </a:solidFill>
            <a:prstDash val="solid"/>
          </a:ln>
        </p:spPr>
      </p:sp>
      <p:sp>
        <p:nvSpPr>
          <p:cNvPr id="32" name="Shape 30"/>
          <p:cNvSpPr/>
          <p:nvPr/>
        </p:nvSpPr>
        <p:spPr>
          <a:xfrm>
            <a:off x="6163056" y="1508760"/>
            <a:ext cx="1234440" cy="1371600"/>
          </a:xfrm>
          <a:prstGeom prst="roundRect">
            <a:avLst>
              <a:gd name="adj" fmla="val 7407"/>
            </a:avLst>
          </a:prstGeom>
          <a:solidFill>
            <a:srgbClr val="10B981">
              <a:alpha val="90000"/>
            </a:srgbClr>
          </a:solidFill>
          <a:ln w="19050">
            <a:solidFill>
              <a:srgbClr val="10B981"/>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6579108" y="1581912"/>
            <a:ext cx="402336" cy="402336"/>
          </a:xfrm>
          <a:prstGeom prst="ellipse">
            <a:avLst/>
          </a:prstGeom>
          <a:solidFill>
            <a:srgbClr val="10B981"/>
          </a:solidFill>
          <a:ln w="12700">
            <a:solidFill>
              <a:srgbClr val="10B981"/>
            </a:solidFill>
            <a:prstDash val="solid"/>
          </a:ln>
        </p:spPr>
      </p:sp>
      <p:sp>
        <p:nvSpPr>
          <p:cNvPr id="34" name="Text 32"/>
          <p:cNvSpPr/>
          <p:nvPr/>
        </p:nvSpPr>
        <p:spPr>
          <a:xfrm>
            <a:off x="6579108"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5" name="Text 33"/>
          <p:cNvSpPr/>
          <p:nvPr/>
        </p:nvSpPr>
        <p:spPr>
          <a:xfrm>
            <a:off x="6208776"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Adoption</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Score</a:t>
            </a:r>
            <a:endParaRPr lang="en-US" sz="1000" dirty="0"/>
          </a:p>
        </p:txBody>
      </p:sp>
      <p:sp>
        <p:nvSpPr>
          <p:cNvPr id="36" name="Text 34"/>
          <p:cNvSpPr/>
          <p:nvPr/>
        </p:nvSpPr>
        <p:spPr>
          <a:xfrm>
            <a:off x="6208776"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KPIs Tracked</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Real-time</a:t>
            </a:r>
            <a:endParaRPr lang="en-US" sz="800" dirty="0"/>
          </a:p>
        </p:txBody>
      </p:sp>
      <p:sp>
        <p:nvSpPr>
          <p:cNvPr id="37" name="Shape 35"/>
          <p:cNvSpPr/>
          <p:nvPr/>
        </p:nvSpPr>
        <p:spPr>
          <a:xfrm>
            <a:off x="7443216" y="2194560"/>
            <a:ext cx="192024" cy="0"/>
          </a:xfrm>
          <a:prstGeom prst="line">
            <a:avLst/>
          </a:prstGeom>
          <a:noFill/>
          <a:ln w="19050">
            <a:solidFill>
              <a:srgbClr val="94A3B8"/>
            </a:solidFill>
            <a:prstDash val="solid"/>
          </a:ln>
        </p:spPr>
      </p:sp>
      <p:sp>
        <p:nvSpPr>
          <p:cNvPr id="38" name="Shape 36"/>
          <p:cNvSpPr/>
          <p:nvPr/>
        </p:nvSpPr>
        <p:spPr>
          <a:xfrm>
            <a:off x="7516368" y="2130552"/>
            <a:ext cx="128016" cy="128016"/>
          </a:xfrm>
          <a:prstGeom prst="roundRect">
            <a:avLst>
              <a:gd name="adj" fmla="val 7143"/>
            </a:avLst>
          </a:prstGeom>
          <a:solidFill>
            <a:srgbClr val="94A3B8"/>
          </a:solidFill>
          <a:ln w="12700">
            <a:solidFill>
              <a:srgbClr val="94A3B8"/>
            </a:solidFill>
            <a:prstDash val="solid"/>
          </a:ln>
        </p:spPr>
      </p:sp>
      <p:sp>
        <p:nvSpPr>
          <p:cNvPr id="39" name="Shape 37"/>
          <p:cNvSpPr/>
          <p:nvPr/>
        </p:nvSpPr>
        <p:spPr>
          <a:xfrm>
            <a:off x="7635240" y="1508760"/>
            <a:ext cx="1234440" cy="1371600"/>
          </a:xfrm>
          <a:prstGeom prst="roundRect">
            <a:avLst>
              <a:gd name="adj" fmla="val 7407"/>
            </a:avLst>
          </a:prstGeom>
          <a:solidFill>
            <a:srgbClr val="EF4444">
              <a:alpha val="90000"/>
            </a:srgbClr>
          </a:solidFill>
          <a:ln w="19050">
            <a:solidFill>
              <a:srgbClr val="EF4444"/>
            </a:solidFill>
            <a:prstDash val="solid"/>
          </a:ln>
          <a:effectLst>
            <a:outerShdw sx="100000" sy="100000" kx="0" ky="0" algn="bl" rotWithShape="0" blurRad="101600" dist="38100" dir="2700000">
              <a:srgbClr val="000000">
                <a:alpha val="12000"/>
              </a:srgbClr>
            </a:outerShdw>
          </a:effectLst>
        </p:spPr>
      </p:sp>
      <p:sp>
        <p:nvSpPr>
          <p:cNvPr id="40" name="Shape 38"/>
          <p:cNvSpPr/>
          <p:nvPr/>
        </p:nvSpPr>
        <p:spPr>
          <a:xfrm>
            <a:off x="8051292" y="1581912"/>
            <a:ext cx="402336" cy="402336"/>
          </a:xfrm>
          <a:prstGeom prst="ellipse">
            <a:avLst/>
          </a:prstGeom>
          <a:solidFill>
            <a:srgbClr val="EF4444"/>
          </a:solidFill>
          <a:ln w="12700">
            <a:solidFill>
              <a:srgbClr val="EF4444"/>
            </a:solidFill>
            <a:prstDash val="solid"/>
          </a:ln>
        </p:spPr>
      </p:sp>
      <p:sp>
        <p:nvSpPr>
          <p:cNvPr id="41" name="Text 39"/>
          <p:cNvSpPr/>
          <p:nvPr/>
        </p:nvSpPr>
        <p:spPr>
          <a:xfrm>
            <a:off x="8051292" y="1581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42" name="Text 40"/>
          <p:cNvSpPr/>
          <p:nvPr/>
        </p:nvSpPr>
        <p:spPr>
          <a:xfrm>
            <a:off x="7680960" y="2057400"/>
            <a:ext cx="1143000" cy="45720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Continuous</a:t>
            </a:r>
            <a:endParaRPr lang="en-US" sz="1000" dirty="0"/>
          </a:p>
          <a:p>
            <a:pPr algn="ctr" indent="0" marL="0">
              <a:buNone/>
            </a:pPr>
            <a:r>
              <a:rPr lang="en-US" sz="1000" b="1" dirty="0">
                <a:solidFill>
                  <a:srgbClr val="FFFFFF"/>
                </a:solidFill>
                <a:latin typeface="Cambria" pitchFamily="34" charset="0"/>
                <a:ea typeface="Cambria" pitchFamily="34" charset="-122"/>
                <a:cs typeface="Cambria" pitchFamily="34" charset="-120"/>
              </a:rPr>
              <a:t>Learning</a:t>
            </a:r>
            <a:endParaRPr lang="en-US" sz="1000" dirty="0"/>
          </a:p>
        </p:txBody>
      </p:sp>
      <p:sp>
        <p:nvSpPr>
          <p:cNvPr id="43" name="Text 41"/>
          <p:cNvSpPr/>
          <p:nvPr/>
        </p:nvSpPr>
        <p:spPr>
          <a:xfrm>
            <a:off x="7680960" y="2532888"/>
            <a:ext cx="1143000" cy="38404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Feedback Loop</a:t>
            </a:r>
            <a:endParaRPr lang="en-US" sz="800" dirty="0"/>
          </a:p>
          <a:p>
            <a:pPr algn="ctr" indent="0" marL="0">
              <a:buNone/>
            </a:pPr>
            <a:r>
              <a:rPr lang="en-US" sz="800" dirty="0">
                <a:solidFill>
                  <a:srgbClr val="CBD5E1"/>
                </a:solidFill>
                <a:latin typeface="Calibri" pitchFamily="34" charset="0"/>
                <a:ea typeface="Calibri" pitchFamily="34" charset="-122"/>
                <a:cs typeface="Calibri" pitchFamily="34" charset="-120"/>
              </a:rPr>
              <a:t>Model Updates</a:t>
            </a:r>
            <a:endParaRPr lang="en-US" sz="800" dirty="0"/>
          </a:p>
        </p:txBody>
      </p:sp>
      <p:sp>
        <p:nvSpPr>
          <p:cNvPr id="44" name="Shape 42"/>
          <p:cNvSpPr/>
          <p:nvPr/>
        </p:nvSpPr>
        <p:spPr>
          <a:xfrm>
            <a:off x="320040" y="3246120"/>
            <a:ext cx="8503920" cy="0"/>
          </a:xfrm>
          <a:prstGeom prst="line">
            <a:avLst/>
          </a:prstGeom>
          <a:noFill/>
          <a:ln w="15240">
            <a:solidFill>
              <a:srgbClr val="F59E0B"/>
            </a:solidFill>
            <a:prstDash val="dash"/>
          </a:ln>
        </p:spPr>
      </p:sp>
      <p:sp>
        <p:nvSpPr>
          <p:cNvPr id="45" name="Text 43"/>
          <p:cNvSpPr/>
          <p:nvPr/>
        </p:nvSpPr>
        <p:spPr>
          <a:xfrm>
            <a:off x="320040" y="3291840"/>
            <a:ext cx="8503920" cy="32004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  Continuous Learning Loop — Agent models retrain daily on new customer interaction data</a:t>
            </a:r>
            <a:endParaRPr lang="en-US" sz="1000" dirty="0"/>
          </a:p>
        </p:txBody>
      </p:sp>
      <p:sp>
        <p:nvSpPr>
          <p:cNvPr id="46" name="Shape 44"/>
          <p:cNvSpPr/>
          <p:nvPr/>
        </p:nvSpPr>
        <p:spPr>
          <a:xfrm>
            <a:off x="228600" y="3703320"/>
            <a:ext cx="1554480" cy="347472"/>
          </a:xfrm>
          <a:prstGeom prst="roundRect">
            <a:avLst>
              <a:gd name="adj" fmla="val 15789"/>
            </a:avLst>
          </a:prstGeom>
          <a:solidFill>
            <a:srgbClr val="1A56BB">
              <a:alpha val="70000"/>
            </a:srgbClr>
          </a:solidFill>
          <a:ln w="12700">
            <a:solidFill>
              <a:srgbClr val="3B82F6"/>
            </a:solidFill>
            <a:prstDash val="solid"/>
          </a:ln>
        </p:spPr>
      </p:sp>
      <p:sp>
        <p:nvSpPr>
          <p:cNvPr id="47" name="Text 45"/>
          <p:cNvSpPr/>
          <p:nvPr/>
        </p:nvSpPr>
        <p:spPr>
          <a:xfrm>
            <a:off x="228600" y="3703320"/>
            <a:ext cx="1554480" cy="347472"/>
          </a:xfrm>
          <a:prstGeom prst="rect">
            <a:avLst/>
          </a:prstGeom>
          <a:noFill/>
          <a:ln/>
        </p:spPr>
        <p:txBody>
          <a:bodyPr wrap="square" lIns="0" tIns="0" rIns="0" bIns="0" rtlCol="0" anchor="ctr"/>
          <a:lstStyle/>
          <a:p>
            <a:pPr algn="ctr" indent="0" marL="0">
              <a:buNone/>
            </a:pPr>
            <a:r>
              <a:rPr lang="en-US" sz="900" dirty="0">
                <a:solidFill>
                  <a:srgbClr val="BFDBFE"/>
                </a:solidFill>
              </a:rPr>
              <a:t>Acquisition Rate</a:t>
            </a:r>
            <a:endParaRPr lang="en-US" sz="900" dirty="0"/>
          </a:p>
        </p:txBody>
      </p:sp>
      <p:sp>
        <p:nvSpPr>
          <p:cNvPr id="48" name="Shape 46"/>
          <p:cNvSpPr/>
          <p:nvPr/>
        </p:nvSpPr>
        <p:spPr>
          <a:xfrm>
            <a:off x="1856232" y="3703320"/>
            <a:ext cx="1554480" cy="347472"/>
          </a:xfrm>
          <a:prstGeom prst="roundRect">
            <a:avLst>
              <a:gd name="adj" fmla="val 15789"/>
            </a:avLst>
          </a:prstGeom>
          <a:solidFill>
            <a:srgbClr val="1A56BB">
              <a:alpha val="70000"/>
            </a:srgbClr>
          </a:solidFill>
          <a:ln w="12700">
            <a:solidFill>
              <a:srgbClr val="3B82F6"/>
            </a:solidFill>
            <a:prstDash val="solid"/>
          </a:ln>
        </p:spPr>
      </p:sp>
      <p:sp>
        <p:nvSpPr>
          <p:cNvPr id="49" name="Text 47"/>
          <p:cNvSpPr/>
          <p:nvPr/>
        </p:nvSpPr>
        <p:spPr>
          <a:xfrm>
            <a:off x="1856232" y="3703320"/>
            <a:ext cx="1554480" cy="347472"/>
          </a:xfrm>
          <a:prstGeom prst="rect">
            <a:avLst/>
          </a:prstGeom>
          <a:noFill/>
          <a:ln/>
        </p:spPr>
        <p:txBody>
          <a:bodyPr wrap="square" lIns="0" tIns="0" rIns="0" bIns="0" rtlCol="0" anchor="ctr"/>
          <a:lstStyle/>
          <a:p>
            <a:pPr algn="ctr" indent="0" marL="0">
              <a:buNone/>
            </a:pPr>
            <a:r>
              <a:rPr lang="en-US" sz="900" dirty="0">
                <a:solidFill>
                  <a:srgbClr val="BFDBFE"/>
                </a:solidFill>
              </a:rPr>
              <a:t>Adoption Score</a:t>
            </a:r>
            <a:endParaRPr lang="en-US" sz="900" dirty="0"/>
          </a:p>
        </p:txBody>
      </p:sp>
      <p:sp>
        <p:nvSpPr>
          <p:cNvPr id="50" name="Shape 48"/>
          <p:cNvSpPr/>
          <p:nvPr/>
        </p:nvSpPr>
        <p:spPr>
          <a:xfrm>
            <a:off x="3483864" y="3703320"/>
            <a:ext cx="1554480" cy="347472"/>
          </a:xfrm>
          <a:prstGeom prst="roundRect">
            <a:avLst>
              <a:gd name="adj" fmla="val 15789"/>
            </a:avLst>
          </a:prstGeom>
          <a:solidFill>
            <a:srgbClr val="1A56BB">
              <a:alpha val="70000"/>
            </a:srgbClr>
          </a:solidFill>
          <a:ln w="12700">
            <a:solidFill>
              <a:srgbClr val="3B82F6"/>
            </a:solidFill>
            <a:prstDash val="solid"/>
          </a:ln>
        </p:spPr>
      </p:sp>
      <p:sp>
        <p:nvSpPr>
          <p:cNvPr id="51" name="Text 49"/>
          <p:cNvSpPr/>
          <p:nvPr/>
        </p:nvSpPr>
        <p:spPr>
          <a:xfrm>
            <a:off x="3483864" y="3703320"/>
            <a:ext cx="1554480" cy="347472"/>
          </a:xfrm>
          <a:prstGeom prst="rect">
            <a:avLst/>
          </a:prstGeom>
          <a:noFill/>
          <a:ln/>
        </p:spPr>
        <p:txBody>
          <a:bodyPr wrap="square" lIns="0" tIns="0" rIns="0" bIns="0" rtlCol="0" anchor="ctr"/>
          <a:lstStyle/>
          <a:p>
            <a:pPr algn="ctr" indent="0" marL="0">
              <a:buNone/>
            </a:pPr>
            <a:r>
              <a:rPr lang="en-US" sz="900" dirty="0">
                <a:solidFill>
                  <a:srgbClr val="BFDBFE"/>
                </a:solidFill>
              </a:rPr>
              <a:t>Engagement Rate</a:t>
            </a:r>
            <a:endParaRPr lang="en-US" sz="900" dirty="0"/>
          </a:p>
        </p:txBody>
      </p:sp>
      <p:sp>
        <p:nvSpPr>
          <p:cNvPr id="52" name="Shape 50"/>
          <p:cNvSpPr/>
          <p:nvPr/>
        </p:nvSpPr>
        <p:spPr>
          <a:xfrm>
            <a:off x="5111496" y="3703320"/>
            <a:ext cx="1554480" cy="347472"/>
          </a:xfrm>
          <a:prstGeom prst="roundRect">
            <a:avLst>
              <a:gd name="adj" fmla="val 15789"/>
            </a:avLst>
          </a:prstGeom>
          <a:solidFill>
            <a:srgbClr val="1A56BB">
              <a:alpha val="70000"/>
            </a:srgbClr>
          </a:solidFill>
          <a:ln w="12700">
            <a:solidFill>
              <a:srgbClr val="3B82F6"/>
            </a:solidFill>
            <a:prstDash val="solid"/>
          </a:ln>
        </p:spPr>
      </p:sp>
      <p:sp>
        <p:nvSpPr>
          <p:cNvPr id="53" name="Text 51"/>
          <p:cNvSpPr/>
          <p:nvPr/>
        </p:nvSpPr>
        <p:spPr>
          <a:xfrm>
            <a:off x="5111496" y="3703320"/>
            <a:ext cx="1554480" cy="347472"/>
          </a:xfrm>
          <a:prstGeom prst="rect">
            <a:avLst/>
          </a:prstGeom>
          <a:noFill/>
          <a:ln/>
        </p:spPr>
        <p:txBody>
          <a:bodyPr wrap="square" lIns="0" tIns="0" rIns="0" bIns="0" rtlCol="0" anchor="ctr"/>
          <a:lstStyle/>
          <a:p>
            <a:pPr algn="ctr" indent="0" marL="0">
              <a:buNone/>
            </a:pPr>
            <a:r>
              <a:rPr lang="en-US" sz="900" dirty="0">
                <a:solidFill>
                  <a:srgbClr val="BFDBFE"/>
                </a:solidFill>
              </a:rPr>
              <a:t>Retention Rate</a:t>
            </a:r>
            <a:endParaRPr lang="en-US" sz="900" dirty="0"/>
          </a:p>
        </p:txBody>
      </p:sp>
      <p:sp>
        <p:nvSpPr>
          <p:cNvPr id="54" name="Shape 52"/>
          <p:cNvSpPr/>
          <p:nvPr/>
        </p:nvSpPr>
        <p:spPr>
          <a:xfrm>
            <a:off x="6739128" y="3703320"/>
            <a:ext cx="1554480" cy="347472"/>
          </a:xfrm>
          <a:prstGeom prst="roundRect">
            <a:avLst>
              <a:gd name="adj" fmla="val 15789"/>
            </a:avLst>
          </a:prstGeom>
          <a:solidFill>
            <a:srgbClr val="1A56BB">
              <a:alpha val="70000"/>
            </a:srgbClr>
          </a:solidFill>
          <a:ln w="12700">
            <a:solidFill>
              <a:srgbClr val="3B82F6"/>
            </a:solidFill>
            <a:prstDash val="solid"/>
          </a:ln>
        </p:spPr>
      </p:sp>
      <p:sp>
        <p:nvSpPr>
          <p:cNvPr id="55" name="Text 53"/>
          <p:cNvSpPr/>
          <p:nvPr/>
        </p:nvSpPr>
        <p:spPr>
          <a:xfrm>
            <a:off x="6739128" y="3703320"/>
            <a:ext cx="1554480" cy="347472"/>
          </a:xfrm>
          <a:prstGeom prst="rect">
            <a:avLst/>
          </a:prstGeom>
          <a:noFill/>
          <a:ln/>
        </p:spPr>
        <p:txBody>
          <a:bodyPr wrap="square" lIns="0" tIns="0" rIns="0" bIns="0" rtlCol="0" anchor="ctr"/>
          <a:lstStyle/>
          <a:p>
            <a:pPr algn="ctr" indent="0" marL="0">
              <a:buNone/>
            </a:pPr>
            <a:r>
              <a:rPr lang="en-US" sz="900" dirty="0">
                <a:solidFill>
                  <a:srgbClr val="BFDBFE"/>
                </a:solidFill>
              </a:rPr>
              <a:t>CLV Growth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KEY FEATURES</a:t>
            </a:r>
            <a:endParaRPr lang="en-US" sz="1100" dirty="0"/>
          </a:p>
        </p:txBody>
      </p:sp>
      <p:sp>
        <p:nvSpPr>
          <p:cNvPr id="4" name="Text 2"/>
          <p:cNvSpPr/>
          <p:nvPr/>
        </p:nvSpPr>
        <p:spPr>
          <a:xfrm>
            <a:off x="365760" y="384048"/>
            <a:ext cx="73152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Built for Scale. Designed for Impact.</a:t>
            </a:r>
            <a:endParaRPr lang="en-US" sz="2600" dirty="0"/>
          </a:p>
        </p:txBody>
      </p:sp>
      <p:sp>
        <p:nvSpPr>
          <p:cNvPr id="5" name="Shape 3"/>
          <p:cNvSpPr/>
          <p:nvPr/>
        </p:nvSpPr>
        <p:spPr>
          <a:xfrm>
            <a:off x="274320" y="1005840"/>
            <a:ext cx="2651760" cy="1719072"/>
          </a:xfrm>
          <a:prstGeom prst="roundRect">
            <a:avLst>
              <a:gd name="adj" fmla="val 531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11480" y="1143000"/>
            <a:ext cx="685800" cy="320040"/>
          </a:xfrm>
          <a:prstGeom prst="roundRect">
            <a:avLst>
              <a:gd name="adj" fmla="val 14286"/>
            </a:avLst>
          </a:prstGeom>
          <a:solidFill>
            <a:srgbClr val="1A56BB">
              <a:alpha val="90000"/>
            </a:srgbClr>
          </a:solidFill>
          <a:ln w="12700">
            <a:solidFill>
              <a:srgbClr val="1A56BB"/>
            </a:solidFill>
            <a:prstDash val="solid"/>
          </a:ln>
        </p:spPr>
      </p:sp>
      <p:sp>
        <p:nvSpPr>
          <p:cNvPr id="7" name="Text 5"/>
          <p:cNvSpPr/>
          <p:nvPr/>
        </p:nvSpPr>
        <p:spPr>
          <a:xfrm>
            <a:off x="411480" y="1143000"/>
            <a:ext cx="685800" cy="320040"/>
          </a:xfrm>
          <a:prstGeom prst="rect">
            <a:avLst/>
          </a:prstGeom>
          <a:noFill/>
          <a:ln/>
        </p:spPr>
        <p:txBody>
          <a:bodyPr wrap="square" lIns="0" tIns="0" rIns="0" bIns="0" rtlCol="0" anchor="ctr"/>
          <a:lstStyle/>
          <a:p>
            <a:pPr algn="ctr" indent="0" marL="0">
              <a:buNone/>
            </a:pPr>
            <a:r>
              <a:rPr lang="en-US" sz="1100" b="1" dirty="0">
                <a:solidFill>
                  <a:srgbClr val="1A56BB"/>
                </a:solidFill>
              </a:rPr>
              <a:t>0–100</a:t>
            </a:r>
            <a:endParaRPr lang="en-US" sz="1100" dirty="0"/>
          </a:p>
        </p:txBody>
      </p:sp>
      <p:sp>
        <p:nvSpPr>
          <p:cNvPr id="8" name="Text 6"/>
          <p:cNvSpPr/>
          <p:nvPr/>
        </p:nvSpPr>
        <p:spPr>
          <a:xfrm>
            <a:off x="411480" y="1508760"/>
            <a:ext cx="2395728" cy="36576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Digital Adoption Score</a:t>
            </a:r>
            <a:endParaRPr lang="en-US" sz="1100" dirty="0"/>
          </a:p>
        </p:txBody>
      </p:sp>
      <p:sp>
        <p:nvSpPr>
          <p:cNvPr id="9" name="Text 7"/>
          <p:cNvSpPr/>
          <p:nvPr/>
        </p:nvSpPr>
        <p:spPr>
          <a:xfrm>
            <a:off x="411480" y="1901952"/>
            <a:ext cx="2395728" cy="74980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Real-time composite score tracking a customer's digital banking maturity across 12 behavioral dimensions</a:t>
            </a:r>
            <a:endParaRPr lang="en-US" sz="950" dirty="0"/>
          </a:p>
        </p:txBody>
      </p:sp>
      <p:sp>
        <p:nvSpPr>
          <p:cNvPr id="10" name="Shape 8"/>
          <p:cNvSpPr/>
          <p:nvPr/>
        </p:nvSpPr>
        <p:spPr>
          <a:xfrm>
            <a:off x="3246120" y="1005840"/>
            <a:ext cx="2651760" cy="1719072"/>
          </a:xfrm>
          <a:prstGeom prst="roundRect">
            <a:avLst>
              <a:gd name="adj" fmla="val 531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3383280" y="1143000"/>
            <a:ext cx="685800" cy="320040"/>
          </a:xfrm>
          <a:prstGeom prst="roundRect">
            <a:avLst>
              <a:gd name="adj" fmla="val 14286"/>
            </a:avLst>
          </a:prstGeom>
          <a:solidFill>
            <a:srgbClr val="0D9488">
              <a:alpha val="90000"/>
            </a:srgbClr>
          </a:solidFill>
          <a:ln w="12700">
            <a:solidFill>
              <a:srgbClr val="0D9488"/>
            </a:solidFill>
            <a:prstDash val="solid"/>
          </a:ln>
        </p:spPr>
      </p:sp>
      <p:sp>
        <p:nvSpPr>
          <p:cNvPr id="12" name="Text 10"/>
          <p:cNvSpPr/>
          <p:nvPr/>
        </p:nvSpPr>
        <p:spPr>
          <a:xfrm>
            <a:off x="3383280" y="1143000"/>
            <a:ext cx="685800" cy="320040"/>
          </a:xfrm>
          <a:prstGeom prst="rect">
            <a:avLst/>
          </a:prstGeom>
          <a:noFill/>
          <a:ln/>
        </p:spPr>
        <p:txBody>
          <a:bodyPr wrap="square" lIns="0" tIns="0" rIns="0" bIns="0" rtlCol="0" anchor="ctr"/>
          <a:lstStyle/>
          <a:p>
            <a:pPr algn="ctr" indent="0" marL="0">
              <a:buNone/>
            </a:pPr>
            <a:r>
              <a:rPr lang="en-US" sz="1100" b="1" dirty="0">
                <a:solidFill>
                  <a:srgbClr val="0D9488"/>
                </a:solidFill>
              </a:rPr>
              <a:t>22 langs</a:t>
            </a:r>
            <a:endParaRPr lang="en-US" sz="1100" dirty="0"/>
          </a:p>
        </p:txBody>
      </p:sp>
      <p:sp>
        <p:nvSpPr>
          <p:cNvPr id="13" name="Text 11"/>
          <p:cNvSpPr/>
          <p:nvPr/>
        </p:nvSpPr>
        <p:spPr>
          <a:xfrm>
            <a:off x="3383280" y="1508760"/>
            <a:ext cx="2395728" cy="36576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Multilingual AI Assistant</a:t>
            </a:r>
            <a:endParaRPr lang="en-US" sz="1100" dirty="0"/>
          </a:p>
        </p:txBody>
      </p:sp>
      <p:sp>
        <p:nvSpPr>
          <p:cNvPr id="14" name="Text 12"/>
          <p:cNvSpPr/>
          <p:nvPr/>
        </p:nvSpPr>
        <p:spPr>
          <a:xfrm>
            <a:off x="3383280" y="1901952"/>
            <a:ext cx="2395728" cy="74980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Supports all 22 scheduled Indian languages with contextual understanding beyond simple translation</a:t>
            </a:r>
            <a:endParaRPr lang="en-US" sz="950" dirty="0"/>
          </a:p>
        </p:txBody>
      </p:sp>
      <p:sp>
        <p:nvSpPr>
          <p:cNvPr id="15" name="Shape 13"/>
          <p:cNvSpPr/>
          <p:nvPr/>
        </p:nvSpPr>
        <p:spPr>
          <a:xfrm>
            <a:off x="6217920" y="1005840"/>
            <a:ext cx="2651760" cy="1719072"/>
          </a:xfrm>
          <a:prstGeom prst="roundRect">
            <a:avLst>
              <a:gd name="adj" fmla="val 531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6355080" y="1143000"/>
            <a:ext cx="685800" cy="320040"/>
          </a:xfrm>
          <a:prstGeom prst="roundRect">
            <a:avLst>
              <a:gd name="adj" fmla="val 14286"/>
            </a:avLst>
          </a:prstGeom>
          <a:solidFill>
            <a:srgbClr val="8B5CF6">
              <a:alpha val="90000"/>
            </a:srgbClr>
          </a:solidFill>
          <a:ln w="12700">
            <a:solidFill>
              <a:srgbClr val="8B5CF6"/>
            </a:solidFill>
            <a:prstDash val="solid"/>
          </a:ln>
        </p:spPr>
      </p:sp>
      <p:sp>
        <p:nvSpPr>
          <p:cNvPr id="17" name="Text 15"/>
          <p:cNvSpPr/>
          <p:nvPr/>
        </p:nvSpPr>
        <p:spPr>
          <a:xfrm>
            <a:off x="6355080" y="1143000"/>
            <a:ext cx="685800" cy="320040"/>
          </a:xfrm>
          <a:prstGeom prst="rect">
            <a:avLst/>
          </a:prstGeom>
          <a:noFill/>
          <a:ln/>
        </p:spPr>
        <p:txBody>
          <a:bodyPr wrap="square" lIns="0" tIns="0" rIns="0" bIns="0" rtlCol="0" anchor="ctr"/>
          <a:lstStyle/>
          <a:p>
            <a:pPr algn="ctr" indent="0" marL="0">
              <a:buNone/>
            </a:pPr>
            <a:r>
              <a:rPr lang="en-US" sz="1100" b="1" dirty="0">
                <a:solidFill>
                  <a:srgbClr val="8B5CF6"/>
                </a:solidFill>
              </a:rPr>
              <a:t>94% acc.</a:t>
            </a:r>
            <a:endParaRPr lang="en-US" sz="1100" dirty="0"/>
          </a:p>
        </p:txBody>
      </p:sp>
      <p:sp>
        <p:nvSpPr>
          <p:cNvPr id="18" name="Text 16"/>
          <p:cNvSpPr/>
          <p:nvPr/>
        </p:nvSpPr>
        <p:spPr>
          <a:xfrm>
            <a:off x="6355080" y="1508760"/>
            <a:ext cx="2395728" cy="36576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Personalized Recommendations</a:t>
            </a:r>
            <a:endParaRPr lang="en-US" sz="1100" dirty="0"/>
          </a:p>
        </p:txBody>
      </p:sp>
      <p:sp>
        <p:nvSpPr>
          <p:cNvPr id="19" name="Text 17"/>
          <p:cNvSpPr/>
          <p:nvPr/>
        </p:nvSpPr>
        <p:spPr>
          <a:xfrm>
            <a:off x="6355080" y="1901952"/>
            <a:ext cx="2395728" cy="74980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ML-driven product recommendations with 94% relevance accuracy based on financial behavior analysis</a:t>
            </a:r>
            <a:endParaRPr lang="en-US" sz="950" dirty="0"/>
          </a:p>
        </p:txBody>
      </p:sp>
      <p:sp>
        <p:nvSpPr>
          <p:cNvPr id="20" name="Shape 18"/>
          <p:cNvSpPr/>
          <p:nvPr/>
        </p:nvSpPr>
        <p:spPr>
          <a:xfrm>
            <a:off x="841248" y="2926080"/>
            <a:ext cx="2651760" cy="1719072"/>
          </a:xfrm>
          <a:prstGeom prst="roundRect">
            <a:avLst>
              <a:gd name="adj" fmla="val 531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978408" y="3063240"/>
            <a:ext cx="685800" cy="320040"/>
          </a:xfrm>
          <a:prstGeom prst="roundRect">
            <a:avLst>
              <a:gd name="adj" fmla="val 14286"/>
            </a:avLst>
          </a:prstGeom>
          <a:solidFill>
            <a:srgbClr val="F59E0B">
              <a:alpha val="90000"/>
            </a:srgbClr>
          </a:solidFill>
          <a:ln w="12700">
            <a:solidFill>
              <a:srgbClr val="F59E0B"/>
            </a:solidFill>
            <a:prstDash val="solid"/>
          </a:ln>
        </p:spPr>
      </p:sp>
      <p:sp>
        <p:nvSpPr>
          <p:cNvPr id="22" name="Text 20"/>
          <p:cNvSpPr/>
          <p:nvPr/>
        </p:nvSpPr>
        <p:spPr>
          <a:xfrm>
            <a:off x="978408" y="3063240"/>
            <a:ext cx="685800" cy="320040"/>
          </a:xfrm>
          <a:prstGeom prst="rect">
            <a:avLst/>
          </a:prstGeom>
          <a:noFill/>
          <a:ln/>
        </p:spPr>
        <p:txBody>
          <a:bodyPr wrap="square" lIns="0" tIns="0" rIns="0" bIns="0" rtlCol="0" anchor="ctr"/>
          <a:lstStyle/>
          <a:p>
            <a:pPr algn="ctr" indent="0" marL="0">
              <a:buNone/>
            </a:pPr>
            <a:r>
              <a:rPr lang="en-US" sz="1100" b="1" dirty="0">
                <a:solidFill>
                  <a:srgbClr val="F59E0B"/>
                </a:solidFill>
              </a:rPr>
              <a:t>360°</a:t>
            </a:r>
            <a:endParaRPr lang="en-US" sz="1100" dirty="0"/>
          </a:p>
        </p:txBody>
      </p:sp>
      <p:sp>
        <p:nvSpPr>
          <p:cNvPr id="23" name="Text 21"/>
          <p:cNvSpPr/>
          <p:nvPr/>
        </p:nvSpPr>
        <p:spPr>
          <a:xfrm>
            <a:off x="978408" y="3429000"/>
            <a:ext cx="2395728" cy="36576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Lifecycle Management</a:t>
            </a:r>
            <a:endParaRPr lang="en-US" sz="1100" dirty="0"/>
          </a:p>
        </p:txBody>
      </p:sp>
      <p:sp>
        <p:nvSpPr>
          <p:cNvPr id="24" name="Text 22"/>
          <p:cNvSpPr/>
          <p:nvPr/>
        </p:nvSpPr>
        <p:spPr>
          <a:xfrm>
            <a:off x="978408" y="3822192"/>
            <a:ext cx="2395728" cy="74980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End-to-end customer journey from first login to long-term premium banking relationship management</a:t>
            </a:r>
            <a:endParaRPr lang="en-US" sz="950" dirty="0"/>
          </a:p>
        </p:txBody>
      </p:sp>
      <p:sp>
        <p:nvSpPr>
          <p:cNvPr id="25" name="Shape 23"/>
          <p:cNvSpPr/>
          <p:nvPr/>
        </p:nvSpPr>
        <p:spPr>
          <a:xfrm>
            <a:off x="3813048" y="2926080"/>
            <a:ext cx="2651760" cy="1719072"/>
          </a:xfrm>
          <a:prstGeom prst="roundRect">
            <a:avLst>
              <a:gd name="adj" fmla="val 531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3950208" y="3063240"/>
            <a:ext cx="685800" cy="320040"/>
          </a:xfrm>
          <a:prstGeom prst="roundRect">
            <a:avLst>
              <a:gd name="adj" fmla="val 14286"/>
            </a:avLst>
          </a:prstGeom>
          <a:solidFill>
            <a:srgbClr val="EF4444">
              <a:alpha val="90000"/>
            </a:srgbClr>
          </a:solidFill>
          <a:ln w="12700">
            <a:solidFill>
              <a:srgbClr val="EF4444"/>
            </a:solidFill>
            <a:prstDash val="solid"/>
          </a:ln>
        </p:spPr>
      </p:sp>
      <p:sp>
        <p:nvSpPr>
          <p:cNvPr id="27" name="Text 25"/>
          <p:cNvSpPr/>
          <p:nvPr/>
        </p:nvSpPr>
        <p:spPr>
          <a:xfrm>
            <a:off x="3950208" y="3063240"/>
            <a:ext cx="685800" cy="320040"/>
          </a:xfrm>
          <a:prstGeom prst="rect">
            <a:avLst/>
          </a:prstGeom>
          <a:noFill/>
          <a:ln/>
        </p:spPr>
        <p:txBody>
          <a:bodyPr wrap="square" lIns="0" tIns="0" rIns="0" bIns="0" rtlCol="0" anchor="ctr"/>
          <a:lstStyle/>
          <a:p>
            <a:pPr algn="ctr" indent="0" marL="0">
              <a:buNone/>
            </a:pPr>
            <a:r>
              <a:rPr lang="en-US" sz="1100" b="1" dirty="0">
                <a:solidFill>
                  <a:srgbClr val="EF4444"/>
                </a:solidFill>
              </a:rPr>
              <a:t>AI Coach</a:t>
            </a:r>
            <a:endParaRPr lang="en-US" sz="1100" dirty="0"/>
          </a:p>
        </p:txBody>
      </p:sp>
      <p:sp>
        <p:nvSpPr>
          <p:cNvPr id="28" name="Text 26"/>
          <p:cNvSpPr/>
          <p:nvPr/>
        </p:nvSpPr>
        <p:spPr>
          <a:xfrm>
            <a:off x="3950208" y="3429000"/>
            <a:ext cx="2395728" cy="36576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Financial Wellness Guidance</a:t>
            </a:r>
            <a:endParaRPr lang="en-US" sz="1100" dirty="0"/>
          </a:p>
        </p:txBody>
      </p:sp>
      <p:sp>
        <p:nvSpPr>
          <p:cNvPr id="29" name="Text 27"/>
          <p:cNvSpPr/>
          <p:nvPr/>
        </p:nvSpPr>
        <p:spPr>
          <a:xfrm>
            <a:off x="3950208" y="3822192"/>
            <a:ext cx="2395728" cy="74980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Proactive savings goals, budget alerts, investment guidance, and insurance recommendations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INNOVATION &amp; DIFFERENTIATION</a:t>
            </a:r>
            <a:endParaRPr lang="en-US" sz="1100" dirty="0"/>
          </a:p>
        </p:txBody>
      </p:sp>
      <p:sp>
        <p:nvSpPr>
          <p:cNvPr id="4" name="Text 2"/>
          <p:cNvSpPr/>
          <p:nvPr/>
        </p:nvSpPr>
        <p:spPr>
          <a:xfrm>
            <a:off x="365760" y="384048"/>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Makes Us Different</a:t>
            </a:r>
            <a:endParaRPr lang="en-US" sz="2600" dirty="0"/>
          </a:p>
        </p:txBody>
      </p:sp>
      <p:sp>
        <p:nvSpPr>
          <p:cNvPr id="5" name="Shape 3"/>
          <p:cNvSpPr/>
          <p:nvPr/>
        </p:nvSpPr>
        <p:spPr>
          <a:xfrm>
            <a:off x="274320" y="1078992"/>
            <a:ext cx="8595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38912" y="1325880"/>
            <a:ext cx="338328" cy="338328"/>
          </a:xfrm>
          <a:prstGeom prst="ellipse">
            <a:avLst/>
          </a:prstGeom>
          <a:solidFill>
            <a:srgbClr val="1A56BB"/>
          </a:solidFill>
          <a:ln w="12700">
            <a:solidFill>
              <a:srgbClr val="1A56BB"/>
            </a:solidFill>
            <a:prstDash val="solid"/>
          </a:ln>
        </p:spPr>
      </p:sp>
      <p:sp>
        <p:nvSpPr>
          <p:cNvPr id="7" name="Text 5"/>
          <p:cNvSpPr/>
          <p:nvPr/>
        </p:nvSpPr>
        <p:spPr>
          <a:xfrm>
            <a:off x="438912" y="1325880"/>
            <a:ext cx="338328" cy="33832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8" name="Text 6"/>
          <p:cNvSpPr/>
          <p:nvPr/>
        </p:nvSpPr>
        <p:spPr>
          <a:xfrm>
            <a:off x="914400" y="1152144"/>
            <a:ext cx="1920240" cy="347472"/>
          </a:xfrm>
          <a:prstGeom prst="rect">
            <a:avLst/>
          </a:prstGeom>
          <a:noFill/>
          <a:ln/>
        </p:spPr>
        <p:txBody>
          <a:bodyPr wrap="square" rtlCol="0" anchor="ctr"/>
          <a:lstStyle/>
          <a:p>
            <a:pPr indent="0" marL="0">
              <a:buNone/>
            </a:pPr>
            <a:r>
              <a:rPr lang="en-US" sz="1200" b="1" dirty="0">
                <a:solidFill>
                  <a:srgbClr val="0A2D6E"/>
                </a:solidFill>
                <a:latin typeface="Cambria" pitchFamily="34" charset="0"/>
                <a:ea typeface="Cambria" pitchFamily="34" charset="-122"/>
                <a:cs typeface="Cambria" pitchFamily="34" charset="-120"/>
              </a:rPr>
              <a:t>Agentic AI vs Chatbot</a:t>
            </a:r>
            <a:endParaRPr lang="en-US" sz="1200" dirty="0"/>
          </a:p>
        </p:txBody>
      </p:sp>
      <p:sp>
        <p:nvSpPr>
          <p:cNvPr id="9" name="Shape 7"/>
          <p:cNvSpPr/>
          <p:nvPr/>
        </p:nvSpPr>
        <p:spPr>
          <a:xfrm>
            <a:off x="2926080" y="1188720"/>
            <a:ext cx="548640" cy="201168"/>
          </a:xfrm>
          <a:prstGeom prst="roundRect">
            <a:avLst>
              <a:gd name="adj" fmla="val 18182"/>
            </a:avLst>
          </a:prstGeom>
          <a:solidFill>
            <a:srgbClr val="FEE2E2"/>
          </a:solidFill>
          <a:ln w="12700">
            <a:solidFill>
              <a:srgbClr val="FCA5A5"/>
            </a:solidFill>
            <a:prstDash val="solid"/>
          </a:ln>
        </p:spPr>
      </p:sp>
      <p:sp>
        <p:nvSpPr>
          <p:cNvPr id="10" name="Text 8"/>
          <p:cNvSpPr/>
          <p:nvPr/>
        </p:nvSpPr>
        <p:spPr>
          <a:xfrm>
            <a:off x="2926080" y="1188720"/>
            <a:ext cx="548640" cy="201168"/>
          </a:xfrm>
          <a:prstGeom prst="rect">
            <a:avLst/>
          </a:prstGeom>
          <a:noFill/>
          <a:ln/>
        </p:spPr>
        <p:txBody>
          <a:bodyPr wrap="square" lIns="0" tIns="0" rIns="0" bIns="0" rtlCol="0" anchor="ctr"/>
          <a:lstStyle/>
          <a:p>
            <a:pPr algn="ctr" indent="0" marL="0">
              <a:buNone/>
            </a:pPr>
            <a:r>
              <a:rPr lang="en-US" sz="700" b="1" dirty="0">
                <a:solidFill>
                  <a:srgbClr val="DC2626"/>
                </a:solidFill>
              </a:rPr>
              <a:t>BEFORE</a:t>
            </a:r>
            <a:endParaRPr lang="en-US" sz="700" dirty="0"/>
          </a:p>
        </p:txBody>
      </p:sp>
      <p:sp>
        <p:nvSpPr>
          <p:cNvPr id="11" name="Text 9"/>
          <p:cNvSpPr/>
          <p:nvPr/>
        </p:nvSpPr>
        <p:spPr>
          <a:xfrm>
            <a:off x="2926080" y="1426464"/>
            <a:ext cx="224028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Responds when asked</a:t>
            </a:r>
            <a:endParaRPr lang="en-US" sz="950" dirty="0"/>
          </a:p>
        </p:txBody>
      </p:sp>
      <p:sp>
        <p:nvSpPr>
          <p:cNvPr id="12" name="Text 10"/>
          <p:cNvSpPr/>
          <p:nvPr/>
        </p:nvSpPr>
        <p:spPr>
          <a:xfrm>
            <a:off x="5166360" y="1335024"/>
            <a:ext cx="365760" cy="347472"/>
          </a:xfrm>
          <a:prstGeom prst="rect">
            <a:avLst/>
          </a:prstGeom>
          <a:noFill/>
          <a:ln/>
        </p:spPr>
        <p:txBody>
          <a:bodyPr wrap="square" lIns="0" tIns="0" rIns="0" bIns="0" rtlCol="0" anchor="ctr"/>
          <a:lstStyle/>
          <a:p>
            <a:pPr algn="ctr" indent="0" marL="0">
              <a:buNone/>
            </a:pPr>
            <a:r>
              <a:rPr lang="en-US" sz="1800" dirty="0">
                <a:solidFill>
                  <a:srgbClr val="1A56BB"/>
                </a:solidFill>
              </a:rPr>
              <a:t>→</a:t>
            </a:r>
            <a:endParaRPr lang="en-US" sz="1800" dirty="0"/>
          </a:p>
        </p:txBody>
      </p:sp>
      <p:sp>
        <p:nvSpPr>
          <p:cNvPr id="13" name="Shape 11"/>
          <p:cNvSpPr/>
          <p:nvPr/>
        </p:nvSpPr>
        <p:spPr>
          <a:xfrm>
            <a:off x="5577840" y="1188720"/>
            <a:ext cx="457200" cy="201168"/>
          </a:xfrm>
          <a:prstGeom prst="roundRect">
            <a:avLst>
              <a:gd name="adj" fmla="val 18182"/>
            </a:avLst>
          </a:prstGeom>
          <a:solidFill>
            <a:srgbClr val="DCFCE7"/>
          </a:solidFill>
          <a:ln w="12700">
            <a:solidFill>
              <a:srgbClr val="86EFAC"/>
            </a:solidFill>
            <a:prstDash val="solid"/>
          </a:ln>
        </p:spPr>
      </p:sp>
      <p:sp>
        <p:nvSpPr>
          <p:cNvPr id="14" name="Text 12"/>
          <p:cNvSpPr/>
          <p:nvPr/>
        </p:nvSpPr>
        <p:spPr>
          <a:xfrm>
            <a:off x="5577840" y="1188720"/>
            <a:ext cx="457200" cy="201168"/>
          </a:xfrm>
          <a:prstGeom prst="rect">
            <a:avLst/>
          </a:prstGeom>
          <a:noFill/>
          <a:ln/>
        </p:spPr>
        <p:txBody>
          <a:bodyPr wrap="square" lIns="0" tIns="0" rIns="0" bIns="0" rtlCol="0" anchor="ctr"/>
          <a:lstStyle/>
          <a:p>
            <a:pPr algn="ctr" indent="0" marL="0">
              <a:buNone/>
            </a:pPr>
            <a:r>
              <a:rPr lang="en-US" sz="700" b="1" dirty="0">
                <a:solidFill>
                  <a:srgbClr val="166534"/>
                </a:solidFill>
              </a:rPr>
              <a:t>AFTER</a:t>
            </a:r>
            <a:endParaRPr lang="en-US" sz="700" dirty="0"/>
          </a:p>
        </p:txBody>
      </p:sp>
      <p:sp>
        <p:nvSpPr>
          <p:cNvPr id="15" name="Text 13"/>
          <p:cNvSpPr/>
          <p:nvPr/>
        </p:nvSpPr>
        <p:spPr>
          <a:xfrm>
            <a:off x="5577840" y="1426464"/>
            <a:ext cx="1737360"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Acts autonomously &amp; proactively</a:t>
            </a:r>
            <a:endParaRPr lang="en-US" sz="950" dirty="0"/>
          </a:p>
        </p:txBody>
      </p:sp>
      <p:sp>
        <p:nvSpPr>
          <p:cNvPr id="16" name="Shape 14"/>
          <p:cNvSpPr/>
          <p:nvPr/>
        </p:nvSpPr>
        <p:spPr>
          <a:xfrm>
            <a:off x="7406640" y="1280160"/>
            <a:ext cx="1371600" cy="411480"/>
          </a:xfrm>
          <a:prstGeom prst="roundRect">
            <a:avLst>
              <a:gd name="adj" fmla="val 13333"/>
            </a:avLst>
          </a:prstGeom>
          <a:solidFill>
            <a:srgbClr val="1A56BB">
              <a:alpha val="88000"/>
            </a:srgbClr>
          </a:solidFill>
          <a:ln w="12700">
            <a:solidFill>
              <a:srgbClr val="1A56BB"/>
            </a:solidFill>
            <a:prstDash val="solid"/>
          </a:ln>
        </p:spPr>
      </p:sp>
      <p:sp>
        <p:nvSpPr>
          <p:cNvPr id="17" name="Text 15"/>
          <p:cNvSpPr/>
          <p:nvPr/>
        </p:nvSpPr>
        <p:spPr>
          <a:xfrm>
            <a:off x="7406640" y="1280160"/>
            <a:ext cx="1371600" cy="411480"/>
          </a:xfrm>
          <a:prstGeom prst="rect">
            <a:avLst/>
          </a:prstGeom>
          <a:noFill/>
          <a:ln/>
        </p:spPr>
        <p:txBody>
          <a:bodyPr wrap="square" lIns="0" tIns="0" rIns="0" bIns="0" rtlCol="0" anchor="ctr"/>
          <a:lstStyle/>
          <a:p>
            <a:pPr algn="ctr" indent="0" marL="0">
              <a:buNone/>
            </a:pPr>
            <a:r>
              <a:rPr lang="en-US" sz="850" b="1" dirty="0">
                <a:solidFill>
                  <a:srgbClr val="1A56BB"/>
                </a:solidFill>
                <a:latin typeface="Calibri" pitchFamily="34" charset="0"/>
                <a:ea typeface="Calibri" pitchFamily="34" charset="-122"/>
                <a:cs typeface="Calibri" pitchFamily="34" charset="-120"/>
              </a:rPr>
              <a:t>3x higher engagement rates</a:t>
            </a:r>
            <a:endParaRPr lang="en-US" sz="850" dirty="0"/>
          </a:p>
        </p:txBody>
      </p:sp>
      <p:sp>
        <p:nvSpPr>
          <p:cNvPr id="18" name="Shape 16"/>
          <p:cNvSpPr/>
          <p:nvPr/>
        </p:nvSpPr>
        <p:spPr>
          <a:xfrm>
            <a:off x="274320" y="2048256"/>
            <a:ext cx="8595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438912" y="2295144"/>
            <a:ext cx="338328" cy="338328"/>
          </a:xfrm>
          <a:prstGeom prst="ellipse">
            <a:avLst/>
          </a:prstGeom>
          <a:solidFill>
            <a:srgbClr val="0D9488"/>
          </a:solidFill>
          <a:ln w="12700">
            <a:solidFill>
              <a:srgbClr val="0D9488"/>
            </a:solidFill>
            <a:prstDash val="solid"/>
          </a:ln>
        </p:spPr>
      </p:sp>
      <p:sp>
        <p:nvSpPr>
          <p:cNvPr id="20" name="Text 18"/>
          <p:cNvSpPr/>
          <p:nvPr/>
        </p:nvSpPr>
        <p:spPr>
          <a:xfrm>
            <a:off x="438912" y="2295144"/>
            <a:ext cx="338328" cy="33832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1" name="Text 19"/>
          <p:cNvSpPr/>
          <p:nvPr/>
        </p:nvSpPr>
        <p:spPr>
          <a:xfrm>
            <a:off x="914400" y="2121408"/>
            <a:ext cx="1920240" cy="347472"/>
          </a:xfrm>
          <a:prstGeom prst="rect">
            <a:avLst/>
          </a:prstGeom>
          <a:noFill/>
          <a:ln/>
        </p:spPr>
        <p:txBody>
          <a:bodyPr wrap="square" rtlCol="0" anchor="ctr"/>
          <a:lstStyle/>
          <a:p>
            <a:pPr indent="0" marL="0">
              <a:buNone/>
            </a:pPr>
            <a:r>
              <a:rPr lang="en-US" sz="1200" b="1" dirty="0">
                <a:solidFill>
                  <a:srgbClr val="0A2D6E"/>
                </a:solidFill>
                <a:latin typeface="Cambria" pitchFamily="34" charset="0"/>
                <a:ea typeface="Cambria" pitchFamily="34" charset="-122"/>
                <a:cs typeface="Cambria" pitchFamily="34" charset="-120"/>
              </a:rPr>
              <a:t>Digital Twin Technology</a:t>
            </a:r>
            <a:endParaRPr lang="en-US" sz="1200" dirty="0"/>
          </a:p>
        </p:txBody>
      </p:sp>
      <p:sp>
        <p:nvSpPr>
          <p:cNvPr id="22" name="Shape 20"/>
          <p:cNvSpPr/>
          <p:nvPr/>
        </p:nvSpPr>
        <p:spPr>
          <a:xfrm>
            <a:off x="2926080" y="2157984"/>
            <a:ext cx="548640" cy="201168"/>
          </a:xfrm>
          <a:prstGeom prst="roundRect">
            <a:avLst>
              <a:gd name="adj" fmla="val 18182"/>
            </a:avLst>
          </a:prstGeom>
          <a:solidFill>
            <a:srgbClr val="FEE2E2"/>
          </a:solidFill>
          <a:ln w="12700">
            <a:solidFill>
              <a:srgbClr val="FCA5A5"/>
            </a:solidFill>
            <a:prstDash val="solid"/>
          </a:ln>
        </p:spPr>
      </p:sp>
      <p:sp>
        <p:nvSpPr>
          <p:cNvPr id="23" name="Text 21"/>
          <p:cNvSpPr/>
          <p:nvPr/>
        </p:nvSpPr>
        <p:spPr>
          <a:xfrm>
            <a:off x="2926080" y="2157984"/>
            <a:ext cx="548640" cy="201168"/>
          </a:xfrm>
          <a:prstGeom prst="rect">
            <a:avLst/>
          </a:prstGeom>
          <a:noFill/>
          <a:ln/>
        </p:spPr>
        <p:txBody>
          <a:bodyPr wrap="square" lIns="0" tIns="0" rIns="0" bIns="0" rtlCol="0" anchor="ctr"/>
          <a:lstStyle/>
          <a:p>
            <a:pPr algn="ctr" indent="0" marL="0">
              <a:buNone/>
            </a:pPr>
            <a:r>
              <a:rPr lang="en-US" sz="700" b="1" dirty="0">
                <a:solidFill>
                  <a:srgbClr val="DC2626"/>
                </a:solidFill>
              </a:rPr>
              <a:t>BEFORE</a:t>
            </a:r>
            <a:endParaRPr lang="en-US" sz="700" dirty="0"/>
          </a:p>
        </p:txBody>
      </p:sp>
      <p:sp>
        <p:nvSpPr>
          <p:cNvPr id="24" name="Text 22"/>
          <p:cNvSpPr/>
          <p:nvPr/>
        </p:nvSpPr>
        <p:spPr>
          <a:xfrm>
            <a:off x="2926080" y="2395728"/>
            <a:ext cx="224028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Static customer profile</a:t>
            </a:r>
            <a:endParaRPr lang="en-US" sz="950" dirty="0"/>
          </a:p>
        </p:txBody>
      </p:sp>
      <p:sp>
        <p:nvSpPr>
          <p:cNvPr id="25" name="Text 23"/>
          <p:cNvSpPr/>
          <p:nvPr/>
        </p:nvSpPr>
        <p:spPr>
          <a:xfrm>
            <a:off x="5166360" y="2304288"/>
            <a:ext cx="365760" cy="347472"/>
          </a:xfrm>
          <a:prstGeom prst="rect">
            <a:avLst/>
          </a:prstGeom>
          <a:noFill/>
          <a:ln/>
        </p:spPr>
        <p:txBody>
          <a:bodyPr wrap="square" lIns="0" tIns="0" rIns="0" bIns="0" rtlCol="0" anchor="ctr"/>
          <a:lstStyle/>
          <a:p>
            <a:pPr algn="ctr" indent="0" marL="0">
              <a:buNone/>
            </a:pPr>
            <a:r>
              <a:rPr lang="en-US" sz="1800" dirty="0">
                <a:solidFill>
                  <a:srgbClr val="1A56BB"/>
                </a:solidFill>
              </a:rPr>
              <a:t>→</a:t>
            </a:r>
            <a:endParaRPr lang="en-US" sz="1800" dirty="0"/>
          </a:p>
        </p:txBody>
      </p:sp>
      <p:sp>
        <p:nvSpPr>
          <p:cNvPr id="26" name="Shape 24"/>
          <p:cNvSpPr/>
          <p:nvPr/>
        </p:nvSpPr>
        <p:spPr>
          <a:xfrm>
            <a:off x="5577840" y="2157984"/>
            <a:ext cx="457200" cy="201168"/>
          </a:xfrm>
          <a:prstGeom prst="roundRect">
            <a:avLst>
              <a:gd name="adj" fmla="val 18182"/>
            </a:avLst>
          </a:prstGeom>
          <a:solidFill>
            <a:srgbClr val="DCFCE7"/>
          </a:solidFill>
          <a:ln w="12700">
            <a:solidFill>
              <a:srgbClr val="86EFAC"/>
            </a:solidFill>
            <a:prstDash val="solid"/>
          </a:ln>
        </p:spPr>
      </p:sp>
      <p:sp>
        <p:nvSpPr>
          <p:cNvPr id="27" name="Text 25"/>
          <p:cNvSpPr/>
          <p:nvPr/>
        </p:nvSpPr>
        <p:spPr>
          <a:xfrm>
            <a:off x="5577840" y="2157984"/>
            <a:ext cx="457200" cy="201168"/>
          </a:xfrm>
          <a:prstGeom prst="rect">
            <a:avLst/>
          </a:prstGeom>
          <a:noFill/>
          <a:ln/>
        </p:spPr>
        <p:txBody>
          <a:bodyPr wrap="square" lIns="0" tIns="0" rIns="0" bIns="0" rtlCol="0" anchor="ctr"/>
          <a:lstStyle/>
          <a:p>
            <a:pPr algn="ctr" indent="0" marL="0">
              <a:buNone/>
            </a:pPr>
            <a:r>
              <a:rPr lang="en-US" sz="700" b="1" dirty="0">
                <a:solidFill>
                  <a:srgbClr val="166534"/>
                </a:solidFill>
              </a:rPr>
              <a:t>AFTER</a:t>
            </a:r>
            <a:endParaRPr lang="en-US" sz="700" dirty="0"/>
          </a:p>
        </p:txBody>
      </p:sp>
      <p:sp>
        <p:nvSpPr>
          <p:cNvPr id="28" name="Text 26"/>
          <p:cNvSpPr/>
          <p:nvPr/>
        </p:nvSpPr>
        <p:spPr>
          <a:xfrm>
            <a:off x="5577840" y="2395728"/>
            <a:ext cx="1737360"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Living AI model, updates in real-time</a:t>
            </a:r>
            <a:endParaRPr lang="en-US" sz="950" dirty="0"/>
          </a:p>
        </p:txBody>
      </p:sp>
      <p:sp>
        <p:nvSpPr>
          <p:cNvPr id="29" name="Shape 27"/>
          <p:cNvSpPr/>
          <p:nvPr/>
        </p:nvSpPr>
        <p:spPr>
          <a:xfrm>
            <a:off x="7406640" y="2249424"/>
            <a:ext cx="1371600" cy="411480"/>
          </a:xfrm>
          <a:prstGeom prst="roundRect">
            <a:avLst>
              <a:gd name="adj" fmla="val 13333"/>
            </a:avLst>
          </a:prstGeom>
          <a:solidFill>
            <a:srgbClr val="0D9488">
              <a:alpha val="88000"/>
            </a:srgbClr>
          </a:solidFill>
          <a:ln w="12700">
            <a:solidFill>
              <a:srgbClr val="0D9488"/>
            </a:solidFill>
            <a:prstDash val="solid"/>
          </a:ln>
        </p:spPr>
      </p:sp>
      <p:sp>
        <p:nvSpPr>
          <p:cNvPr id="30" name="Text 28"/>
          <p:cNvSpPr/>
          <p:nvPr/>
        </p:nvSpPr>
        <p:spPr>
          <a:xfrm>
            <a:off x="7406640" y="2249424"/>
            <a:ext cx="1371600" cy="411480"/>
          </a:xfrm>
          <a:prstGeom prst="rect">
            <a:avLst/>
          </a:prstGeom>
          <a:noFill/>
          <a:ln/>
        </p:spPr>
        <p:txBody>
          <a:bodyPr wrap="square" lIns="0" tIns="0" rIns="0" bIns="0" rtlCol="0" anchor="ctr"/>
          <a:lstStyle/>
          <a:p>
            <a:pPr algn="ctr" indent="0" marL="0">
              <a:buNone/>
            </a:pPr>
            <a:r>
              <a:rPr lang="en-US" sz="850" b="1" dirty="0">
                <a:solidFill>
                  <a:srgbClr val="0D9488"/>
                </a:solidFill>
                <a:latin typeface="Calibri" pitchFamily="34" charset="0"/>
                <a:ea typeface="Calibri" pitchFamily="34" charset="-122"/>
                <a:cs typeface="Calibri" pitchFamily="34" charset="-120"/>
              </a:rPr>
              <a:t>2.4x prediction accuracy</a:t>
            </a:r>
            <a:endParaRPr lang="en-US" sz="850" dirty="0"/>
          </a:p>
        </p:txBody>
      </p:sp>
      <p:sp>
        <p:nvSpPr>
          <p:cNvPr id="31" name="Shape 29"/>
          <p:cNvSpPr/>
          <p:nvPr/>
        </p:nvSpPr>
        <p:spPr>
          <a:xfrm>
            <a:off x="274320" y="3017520"/>
            <a:ext cx="8595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2" name="Shape 30"/>
          <p:cNvSpPr/>
          <p:nvPr/>
        </p:nvSpPr>
        <p:spPr>
          <a:xfrm>
            <a:off x="438912" y="3264408"/>
            <a:ext cx="338328" cy="338328"/>
          </a:xfrm>
          <a:prstGeom prst="ellipse">
            <a:avLst/>
          </a:prstGeom>
          <a:solidFill>
            <a:srgbClr val="8B5CF6"/>
          </a:solidFill>
          <a:ln w="12700">
            <a:solidFill>
              <a:srgbClr val="8B5CF6"/>
            </a:solidFill>
            <a:prstDash val="solid"/>
          </a:ln>
        </p:spPr>
      </p:sp>
      <p:sp>
        <p:nvSpPr>
          <p:cNvPr id="33" name="Text 31"/>
          <p:cNvSpPr/>
          <p:nvPr/>
        </p:nvSpPr>
        <p:spPr>
          <a:xfrm>
            <a:off x="438912" y="3264408"/>
            <a:ext cx="338328" cy="33832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4" name="Text 32"/>
          <p:cNvSpPr/>
          <p:nvPr/>
        </p:nvSpPr>
        <p:spPr>
          <a:xfrm>
            <a:off x="914400" y="3090672"/>
            <a:ext cx="1920240" cy="347472"/>
          </a:xfrm>
          <a:prstGeom prst="rect">
            <a:avLst/>
          </a:prstGeom>
          <a:noFill/>
          <a:ln/>
        </p:spPr>
        <p:txBody>
          <a:bodyPr wrap="square" rtlCol="0" anchor="ctr"/>
          <a:lstStyle/>
          <a:p>
            <a:pPr indent="0" marL="0">
              <a:buNone/>
            </a:pPr>
            <a:r>
              <a:rPr lang="en-US" sz="1200" b="1" dirty="0">
                <a:solidFill>
                  <a:srgbClr val="0A2D6E"/>
                </a:solidFill>
                <a:latin typeface="Cambria" pitchFamily="34" charset="0"/>
                <a:ea typeface="Cambria" pitchFamily="34" charset="-122"/>
                <a:cs typeface="Cambria" pitchFamily="34" charset="-120"/>
              </a:rPr>
              <a:t>Predictive Engagement</a:t>
            </a:r>
            <a:endParaRPr lang="en-US" sz="1200" dirty="0"/>
          </a:p>
        </p:txBody>
      </p:sp>
      <p:sp>
        <p:nvSpPr>
          <p:cNvPr id="35" name="Shape 33"/>
          <p:cNvSpPr/>
          <p:nvPr/>
        </p:nvSpPr>
        <p:spPr>
          <a:xfrm>
            <a:off x="2926080" y="3127248"/>
            <a:ext cx="548640" cy="201168"/>
          </a:xfrm>
          <a:prstGeom prst="roundRect">
            <a:avLst>
              <a:gd name="adj" fmla="val 18182"/>
            </a:avLst>
          </a:prstGeom>
          <a:solidFill>
            <a:srgbClr val="FEE2E2"/>
          </a:solidFill>
          <a:ln w="12700">
            <a:solidFill>
              <a:srgbClr val="FCA5A5"/>
            </a:solidFill>
            <a:prstDash val="solid"/>
          </a:ln>
        </p:spPr>
      </p:sp>
      <p:sp>
        <p:nvSpPr>
          <p:cNvPr id="36" name="Text 34"/>
          <p:cNvSpPr/>
          <p:nvPr/>
        </p:nvSpPr>
        <p:spPr>
          <a:xfrm>
            <a:off x="2926080" y="3127248"/>
            <a:ext cx="548640" cy="201168"/>
          </a:xfrm>
          <a:prstGeom prst="rect">
            <a:avLst/>
          </a:prstGeom>
          <a:noFill/>
          <a:ln/>
        </p:spPr>
        <p:txBody>
          <a:bodyPr wrap="square" lIns="0" tIns="0" rIns="0" bIns="0" rtlCol="0" anchor="ctr"/>
          <a:lstStyle/>
          <a:p>
            <a:pPr algn="ctr" indent="0" marL="0">
              <a:buNone/>
            </a:pPr>
            <a:r>
              <a:rPr lang="en-US" sz="700" b="1" dirty="0">
                <a:solidFill>
                  <a:srgbClr val="DC2626"/>
                </a:solidFill>
              </a:rPr>
              <a:t>BEFORE</a:t>
            </a:r>
            <a:endParaRPr lang="en-US" sz="700" dirty="0"/>
          </a:p>
        </p:txBody>
      </p:sp>
      <p:sp>
        <p:nvSpPr>
          <p:cNvPr id="37" name="Text 35"/>
          <p:cNvSpPr/>
          <p:nvPr/>
        </p:nvSpPr>
        <p:spPr>
          <a:xfrm>
            <a:off x="2926080" y="3364992"/>
            <a:ext cx="224028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Post-event notifications</a:t>
            </a:r>
            <a:endParaRPr lang="en-US" sz="950" dirty="0"/>
          </a:p>
        </p:txBody>
      </p:sp>
      <p:sp>
        <p:nvSpPr>
          <p:cNvPr id="38" name="Text 36"/>
          <p:cNvSpPr/>
          <p:nvPr/>
        </p:nvSpPr>
        <p:spPr>
          <a:xfrm>
            <a:off x="5166360" y="3273552"/>
            <a:ext cx="365760" cy="347472"/>
          </a:xfrm>
          <a:prstGeom prst="rect">
            <a:avLst/>
          </a:prstGeom>
          <a:noFill/>
          <a:ln/>
        </p:spPr>
        <p:txBody>
          <a:bodyPr wrap="square" lIns="0" tIns="0" rIns="0" bIns="0" rtlCol="0" anchor="ctr"/>
          <a:lstStyle/>
          <a:p>
            <a:pPr algn="ctr" indent="0" marL="0">
              <a:buNone/>
            </a:pPr>
            <a:r>
              <a:rPr lang="en-US" sz="1800" dirty="0">
                <a:solidFill>
                  <a:srgbClr val="1A56BB"/>
                </a:solidFill>
              </a:rPr>
              <a:t>→</a:t>
            </a:r>
            <a:endParaRPr lang="en-US" sz="1800" dirty="0"/>
          </a:p>
        </p:txBody>
      </p:sp>
      <p:sp>
        <p:nvSpPr>
          <p:cNvPr id="39" name="Shape 37"/>
          <p:cNvSpPr/>
          <p:nvPr/>
        </p:nvSpPr>
        <p:spPr>
          <a:xfrm>
            <a:off x="5577840" y="3127248"/>
            <a:ext cx="457200" cy="201168"/>
          </a:xfrm>
          <a:prstGeom prst="roundRect">
            <a:avLst>
              <a:gd name="adj" fmla="val 18182"/>
            </a:avLst>
          </a:prstGeom>
          <a:solidFill>
            <a:srgbClr val="DCFCE7"/>
          </a:solidFill>
          <a:ln w="12700">
            <a:solidFill>
              <a:srgbClr val="86EFAC"/>
            </a:solidFill>
            <a:prstDash val="solid"/>
          </a:ln>
        </p:spPr>
      </p:sp>
      <p:sp>
        <p:nvSpPr>
          <p:cNvPr id="40" name="Text 38"/>
          <p:cNvSpPr/>
          <p:nvPr/>
        </p:nvSpPr>
        <p:spPr>
          <a:xfrm>
            <a:off x="5577840" y="3127248"/>
            <a:ext cx="457200" cy="201168"/>
          </a:xfrm>
          <a:prstGeom prst="rect">
            <a:avLst/>
          </a:prstGeom>
          <a:noFill/>
          <a:ln/>
        </p:spPr>
        <p:txBody>
          <a:bodyPr wrap="square" lIns="0" tIns="0" rIns="0" bIns="0" rtlCol="0" anchor="ctr"/>
          <a:lstStyle/>
          <a:p>
            <a:pPr algn="ctr" indent="0" marL="0">
              <a:buNone/>
            </a:pPr>
            <a:r>
              <a:rPr lang="en-US" sz="700" b="1" dirty="0">
                <a:solidFill>
                  <a:srgbClr val="166534"/>
                </a:solidFill>
              </a:rPr>
              <a:t>AFTER</a:t>
            </a:r>
            <a:endParaRPr lang="en-US" sz="700" dirty="0"/>
          </a:p>
        </p:txBody>
      </p:sp>
      <p:sp>
        <p:nvSpPr>
          <p:cNvPr id="41" name="Text 39"/>
          <p:cNvSpPr/>
          <p:nvPr/>
        </p:nvSpPr>
        <p:spPr>
          <a:xfrm>
            <a:off x="5577840" y="3364992"/>
            <a:ext cx="1737360"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Pre-empts churn before it happens</a:t>
            </a:r>
            <a:endParaRPr lang="en-US" sz="950" dirty="0"/>
          </a:p>
        </p:txBody>
      </p:sp>
      <p:sp>
        <p:nvSpPr>
          <p:cNvPr id="42" name="Shape 40"/>
          <p:cNvSpPr/>
          <p:nvPr/>
        </p:nvSpPr>
        <p:spPr>
          <a:xfrm>
            <a:off x="7406640" y="3218688"/>
            <a:ext cx="1371600" cy="411480"/>
          </a:xfrm>
          <a:prstGeom prst="roundRect">
            <a:avLst>
              <a:gd name="adj" fmla="val 13333"/>
            </a:avLst>
          </a:prstGeom>
          <a:solidFill>
            <a:srgbClr val="8B5CF6">
              <a:alpha val="88000"/>
            </a:srgbClr>
          </a:solidFill>
          <a:ln w="12700">
            <a:solidFill>
              <a:srgbClr val="8B5CF6"/>
            </a:solidFill>
            <a:prstDash val="solid"/>
          </a:ln>
        </p:spPr>
      </p:sp>
      <p:sp>
        <p:nvSpPr>
          <p:cNvPr id="43" name="Text 41"/>
          <p:cNvSpPr/>
          <p:nvPr/>
        </p:nvSpPr>
        <p:spPr>
          <a:xfrm>
            <a:off x="7406640" y="3218688"/>
            <a:ext cx="1371600" cy="411480"/>
          </a:xfrm>
          <a:prstGeom prst="rect">
            <a:avLst/>
          </a:prstGeom>
          <a:noFill/>
          <a:ln/>
        </p:spPr>
        <p:txBody>
          <a:bodyPr wrap="square" lIns="0" tIns="0" rIns="0" bIns="0" rtlCol="0" anchor="ctr"/>
          <a:lstStyle/>
          <a:p>
            <a:pPr algn="ctr" indent="0" marL="0">
              <a:buNone/>
            </a:pPr>
            <a:r>
              <a:rPr lang="en-US" sz="850" b="1" dirty="0">
                <a:solidFill>
                  <a:srgbClr val="8B5CF6"/>
                </a:solidFill>
                <a:latin typeface="Calibri" pitchFamily="34" charset="0"/>
                <a:ea typeface="Calibri" pitchFamily="34" charset="-122"/>
                <a:cs typeface="Calibri" pitchFamily="34" charset="-120"/>
              </a:rPr>
              <a:t>45% reduction in churn</a:t>
            </a:r>
            <a:endParaRPr lang="en-US" sz="850" dirty="0"/>
          </a:p>
        </p:txBody>
      </p:sp>
      <p:sp>
        <p:nvSpPr>
          <p:cNvPr id="44" name="Shape 42"/>
          <p:cNvSpPr/>
          <p:nvPr/>
        </p:nvSpPr>
        <p:spPr>
          <a:xfrm>
            <a:off x="274320" y="3986784"/>
            <a:ext cx="8595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5" name="Shape 43"/>
          <p:cNvSpPr/>
          <p:nvPr/>
        </p:nvSpPr>
        <p:spPr>
          <a:xfrm>
            <a:off x="438912" y="4233672"/>
            <a:ext cx="338328" cy="338328"/>
          </a:xfrm>
          <a:prstGeom prst="ellipse">
            <a:avLst/>
          </a:prstGeom>
          <a:solidFill>
            <a:srgbClr val="F59E0B"/>
          </a:solidFill>
          <a:ln w="12700">
            <a:solidFill>
              <a:srgbClr val="F59E0B"/>
            </a:solidFill>
            <a:prstDash val="solid"/>
          </a:ln>
        </p:spPr>
      </p:sp>
      <p:sp>
        <p:nvSpPr>
          <p:cNvPr id="46" name="Text 44"/>
          <p:cNvSpPr/>
          <p:nvPr/>
        </p:nvSpPr>
        <p:spPr>
          <a:xfrm>
            <a:off x="438912" y="4233672"/>
            <a:ext cx="338328" cy="338328"/>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47" name="Text 45"/>
          <p:cNvSpPr/>
          <p:nvPr/>
        </p:nvSpPr>
        <p:spPr>
          <a:xfrm>
            <a:off x="914400" y="4059936"/>
            <a:ext cx="1920240" cy="347472"/>
          </a:xfrm>
          <a:prstGeom prst="rect">
            <a:avLst/>
          </a:prstGeom>
          <a:noFill/>
          <a:ln/>
        </p:spPr>
        <p:txBody>
          <a:bodyPr wrap="square" rtlCol="0" anchor="ctr"/>
          <a:lstStyle/>
          <a:p>
            <a:pPr indent="0" marL="0">
              <a:buNone/>
            </a:pPr>
            <a:r>
              <a:rPr lang="en-US" sz="1200" b="1" dirty="0">
                <a:solidFill>
                  <a:srgbClr val="0A2D6E"/>
                </a:solidFill>
                <a:latin typeface="Cambria" pitchFamily="34" charset="0"/>
                <a:ea typeface="Cambria" pitchFamily="34" charset="-122"/>
                <a:cs typeface="Cambria" pitchFamily="34" charset="-120"/>
              </a:rPr>
              <a:t>Real-time Adaptation</a:t>
            </a:r>
            <a:endParaRPr lang="en-US" sz="1200" dirty="0"/>
          </a:p>
        </p:txBody>
      </p:sp>
      <p:sp>
        <p:nvSpPr>
          <p:cNvPr id="48" name="Shape 46"/>
          <p:cNvSpPr/>
          <p:nvPr/>
        </p:nvSpPr>
        <p:spPr>
          <a:xfrm>
            <a:off x="2926080" y="4096512"/>
            <a:ext cx="548640" cy="201168"/>
          </a:xfrm>
          <a:prstGeom prst="roundRect">
            <a:avLst>
              <a:gd name="adj" fmla="val 18182"/>
            </a:avLst>
          </a:prstGeom>
          <a:solidFill>
            <a:srgbClr val="FEE2E2"/>
          </a:solidFill>
          <a:ln w="12700">
            <a:solidFill>
              <a:srgbClr val="FCA5A5"/>
            </a:solidFill>
            <a:prstDash val="solid"/>
          </a:ln>
        </p:spPr>
      </p:sp>
      <p:sp>
        <p:nvSpPr>
          <p:cNvPr id="49" name="Text 47"/>
          <p:cNvSpPr/>
          <p:nvPr/>
        </p:nvSpPr>
        <p:spPr>
          <a:xfrm>
            <a:off x="2926080" y="4096512"/>
            <a:ext cx="548640" cy="201168"/>
          </a:xfrm>
          <a:prstGeom prst="rect">
            <a:avLst/>
          </a:prstGeom>
          <a:noFill/>
          <a:ln/>
        </p:spPr>
        <p:txBody>
          <a:bodyPr wrap="square" lIns="0" tIns="0" rIns="0" bIns="0" rtlCol="0" anchor="ctr"/>
          <a:lstStyle/>
          <a:p>
            <a:pPr algn="ctr" indent="0" marL="0">
              <a:buNone/>
            </a:pPr>
            <a:r>
              <a:rPr lang="en-US" sz="700" b="1" dirty="0">
                <a:solidFill>
                  <a:srgbClr val="DC2626"/>
                </a:solidFill>
              </a:rPr>
              <a:t>BEFORE</a:t>
            </a:r>
            <a:endParaRPr lang="en-US" sz="700" dirty="0"/>
          </a:p>
        </p:txBody>
      </p:sp>
      <p:sp>
        <p:nvSpPr>
          <p:cNvPr id="50" name="Text 48"/>
          <p:cNvSpPr/>
          <p:nvPr/>
        </p:nvSpPr>
        <p:spPr>
          <a:xfrm>
            <a:off x="2926080" y="4334256"/>
            <a:ext cx="224028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Monthly model retraining</a:t>
            </a:r>
            <a:endParaRPr lang="en-US" sz="950" dirty="0"/>
          </a:p>
        </p:txBody>
      </p:sp>
      <p:sp>
        <p:nvSpPr>
          <p:cNvPr id="51" name="Text 49"/>
          <p:cNvSpPr/>
          <p:nvPr/>
        </p:nvSpPr>
        <p:spPr>
          <a:xfrm>
            <a:off x="5166360" y="4242816"/>
            <a:ext cx="365760" cy="347472"/>
          </a:xfrm>
          <a:prstGeom prst="rect">
            <a:avLst/>
          </a:prstGeom>
          <a:noFill/>
          <a:ln/>
        </p:spPr>
        <p:txBody>
          <a:bodyPr wrap="square" lIns="0" tIns="0" rIns="0" bIns="0" rtlCol="0" anchor="ctr"/>
          <a:lstStyle/>
          <a:p>
            <a:pPr algn="ctr" indent="0" marL="0">
              <a:buNone/>
            </a:pPr>
            <a:r>
              <a:rPr lang="en-US" sz="1800" dirty="0">
                <a:solidFill>
                  <a:srgbClr val="1A56BB"/>
                </a:solidFill>
              </a:rPr>
              <a:t>→</a:t>
            </a:r>
            <a:endParaRPr lang="en-US" sz="1800" dirty="0"/>
          </a:p>
        </p:txBody>
      </p:sp>
      <p:sp>
        <p:nvSpPr>
          <p:cNvPr id="52" name="Shape 50"/>
          <p:cNvSpPr/>
          <p:nvPr/>
        </p:nvSpPr>
        <p:spPr>
          <a:xfrm>
            <a:off x="5577840" y="4096512"/>
            <a:ext cx="457200" cy="201168"/>
          </a:xfrm>
          <a:prstGeom prst="roundRect">
            <a:avLst>
              <a:gd name="adj" fmla="val 18182"/>
            </a:avLst>
          </a:prstGeom>
          <a:solidFill>
            <a:srgbClr val="DCFCE7"/>
          </a:solidFill>
          <a:ln w="12700">
            <a:solidFill>
              <a:srgbClr val="86EFAC"/>
            </a:solidFill>
            <a:prstDash val="solid"/>
          </a:ln>
        </p:spPr>
      </p:sp>
      <p:sp>
        <p:nvSpPr>
          <p:cNvPr id="53" name="Text 51"/>
          <p:cNvSpPr/>
          <p:nvPr/>
        </p:nvSpPr>
        <p:spPr>
          <a:xfrm>
            <a:off x="5577840" y="4096512"/>
            <a:ext cx="457200" cy="201168"/>
          </a:xfrm>
          <a:prstGeom prst="rect">
            <a:avLst/>
          </a:prstGeom>
          <a:noFill/>
          <a:ln/>
        </p:spPr>
        <p:txBody>
          <a:bodyPr wrap="square" lIns="0" tIns="0" rIns="0" bIns="0" rtlCol="0" anchor="ctr"/>
          <a:lstStyle/>
          <a:p>
            <a:pPr algn="ctr" indent="0" marL="0">
              <a:buNone/>
            </a:pPr>
            <a:r>
              <a:rPr lang="en-US" sz="700" b="1" dirty="0">
                <a:solidFill>
                  <a:srgbClr val="166534"/>
                </a:solidFill>
              </a:rPr>
              <a:t>AFTER</a:t>
            </a:r>
            <a:endParaRPr lang="en-US" sz="700" dirty="0"/>
          </a:p>
        </p:txBody>
      </p:sp>
      <p:sp>
        <p:nvSpPr>
          <p:cNvPr id="54" name="Text 52"/>
          <p:cNvSpPr/>
          <p:nvPr/>
        </p:nvSpPr>
        <p:spPr>
          <a:xfrm>
            <a:off x="5577840" y="4334256"/>
            <a:ext cx="1737360"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Continuous online learning loop</a:t>
            </a:r>
            <a:endParaRPr lang="en-US" sz="950" dirty="0"/>
          </a:p>
        </p:txBody>
      </p:sp>
      <p:sp>
        <p:nvSpPr>
          <p:cNvPr id="55" name="Shape 53"/>
          <p:cNvSpPr/>
          <p:nvPr/>
        </p:nvSpPr>
        <p:spPr>
          <a:xfrm>
            <a:off x="7406640" y="4187952"/>
            <a:ext cx="1371600" cy="411480"/>
          </a:xfrm>
          <a:prstGeom prst="roundRect">
            <a:avLst>
              <a:gd name="adj" fmla="val 13333"/>
            </a:avLst>
          </a:prstGeom>
          <a:solidFill>
            <a:srgbClr val="F59E0B">
              <a:alpha val="88000"/>
            </a:srgbClr>
          </a:solidFill>
          <a:ln w="12700">
            <a:solidFill>
              <a:srgbClr val="F59E0B"/>
            </a:solidFill>
            <a:prstDash val="solid"/>
          </a:ln>
        </p:spPr>
      </p:sp>
      <p:sp>
        <p:nvSpPr>
          <p:cNvPr id="56" name="Text 54"/>
          <p:cNvSpPr/>
          <p:nvPr/>
        </p:nvSpPr>
        <p:spPr>
          <a:xfrm>
            <a:off x="7406640" y="4187952"/>
            <a:ext cx="1371600" cy="411480"/>
          </a:xfrm>
          <a:prstGeom prst="rect">
            <a:avLst/>
          </a:prstGeom>
          <a:noFill/>
          <a:ln/>
        </p:spPr>
        <p:txBody>
          <a:bodyPr wrap="square" lIns="0" tIns="0" rIns="0" bIns="0" rtlCol="0" anchor="ctr"/>
          <a:lstStyle/>
          <a:p>
            <a:pPr algn="ctr" indent="0" marL="0">
              <a:buNone/>
            </a:pPr>
            <a:r>
              <a:rPr lang="en-US" sz="850" b="1" dirty="0">
                <a:solidFill>
                  <a:srgbClr val="F59E0B"/>
                </a:solidFill>
                <a:latin typeface="Calibri" pitchFamily="34" charset="0"/>
                <a:ea typeface="Calibri" pitchFamily="34" charset="-122"/>
                <a:cs typeface="Calibri" pitchFamily="34" charset="-120"/>
              </a:rPr>
              <a:t>94% recommendation accuracy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BUSINESS IMPACT FOR SBI</a:t>
            </a:r>
            <a:endParaRPr lang="en-US" sz="1100" dirty="0"/>
          </a:p>
        </p:txBody>
      </p:sp>
      <p:sp>
        <p:nvSpPr>
          <p:cNvPr id="4" name="Text 2"/>
          <p:cNvSpPr/>
          <p:nvPr/>
        </p:nvSpPr>
        <p:spPr>
          <a:xfrm>
            <a:off x="365760" y="384048"/>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Measurable Value at Scale</a:t>
            </a:r>
            <a:endParaRPr lang="en-US" sz="2600" dirty="0"/>
          </a:p>
        </p:txBody>
      </p:sp>
      <p:sp>
        <p:nvSpPr>
          <p:cNvPr id="5" name="Shape 3"/>
          <p:cNvSpPr/>
          <p:nvPr/>
        </p:nvSpPr>
        <p:spPr>
          <a:xfrm>
            <a:off x="274320" y="1005840"/>
            <a:ext cx="2743200" cy="1371600"/>
          </a:xfrm>
          <a:prstGeom prst="roundRect">
            <a:avLst>
              <a:gd name="adj" fmla="val 8000"/>
            </a:avLst>
          </a:prstGeom>
          <a:solidFill>
            <a:srgbClr val="1A56BB"/>
          </a:solidFill>
          <a:ln w="12700">
            <a:solidFill>
              <a:srgbClr val="1A56BB"/>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274320" y="1051560"/>
            <a:ext cx="2743200" cy="6858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35%↑</a:t>
            </a:r>
            <a:endParaRPr lang="en-US" sz="3800" dirty="0"/>
          </a:p>
        </p:txBody>
      </p:sp>
      <p:sp>
        <p:nvSpPr>
          <p:cNvPr id="7" name="Text 5"/>
          <p:cNvSpPr/>
          <p:nvPr/>
        </p:nvSpPr>
        <p:spPr>
          <a:xfrm>
            <a:off x="274320" y="1719072"/>
            <a:ext cx="2743200" cy="594360"/>
          </a:xfrm>
          <a:prstGeom prst="rect">
            <a:avLst/>
          </a:prstGeom>
          <a:noFill/>
          <a:ln/>
        </p:spPr>
        <p:txBody>
          <a:bodyPr wrap="square" rtlCol="0" anchor="ctr"/>
          <a:lstStyle/>
          <a:p>
            <a:pPr algn="ctr" indent="0" marL="0">
              <a:buNone/>
            </a:pPr>
            <a:r>
              <a:rPr lang="en-US" sz="1150" dirty="0">
                <a:solidFill>
                  <a:srgbClr val="DBEAFE"/>
                </a:solidFill>
                <a:latin typeface="Calibri" pitchFamily="34" charset="0"/>
                <a:ea typeface="Calibri" pitchFamily="34" charset="-122"/>
                <a:cs typeface="Calibri" pitchFamily="34" charset="-120"/>
              </a:rPr>
              <a:t>Customer</a:t>
            </a:r>
            <a:endParaRPr lang="en-US" sz="1150" dirty="0"/>
          </a:p>
          <a:p>
            <a:pPr algn="ctr" indent="0" marL="0">
              <a:buNone/>
            </a:pPr>
            <a:r>
              <a:rPr lang="en-US" sz="1150" dirty="0">
                <a:solidFill>
                  <a:srgbClr val="DBEAFE"/>
                </a:solidFill>
                <a:latin typeface="Calibri" pitchFamily="34" charset="0"/>
                <a:ea typeface="Calibri" pitchFamily="34" charset="-122"/>
                <a:cs typeface="Calibri" pitchFamily="34" charset="-120"/>
              </a:rPr>
              <a:t>Acquisition Rate</a:t>
            </a:r>
            <a:endParaRPr lang="en-US" sz="1150" dirty="0"/>
          </a:p>
        </p:txBody>
      </p:sp>
      <p:sp>
        <p:nvSpPr>
          <p:cNvPr id="8" name="Shape 6"/>
          <p:cNvSpPr/>
          <p:nvPr/>
        </p:nvSpPr>
        <p:spPr>
          <a:xfrm>
            <a:off x="3200400" y="1005840"/>
            <a:ext cx="2743200" cy="1371600"/>
          </a:xfrm>
          <a:prstGeom prst="roundRect">
            <a:avLst>
              <a:gd name="adj" fmla="val 8000"/>
            </a:avLst>
          </a:prstGeom>
          <a:solidFill>
            <a:srgbClr val="0D9488"/>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200400" y="1051560"/>
            <a:ext cx="2743200" cy="6858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52%↓</a:t>
            </a:r>
            <a:endParaRPr lang="en-US" sz="3800" dirty="0"/>
          </a:p>
        </p:txBody>
      </p:sp>
      <p:sp>
        <p:nvSpPr>
          <p:cNvPr id="10" name="Text 8"/>
          <p:cNvSpPr/>
          <p:nvPr/>
        </p:nvSpPr>
        <p:spPr>
          <a:xfrm>
            <a:off x="3200400" y="1719072"/>
            <a:ext cx="2743200" cy="594360"/>
          </a:xfrm>
          <a:prstGeom prst="rect">
            <a:avLst/>
          </a:prstGeom>
          <a:noFill/>
          <a:ln/>
        </p:spPr>
        <p:txBody>
          <a:bodyPr wrap="square" rtlCol="0" anchor="ctr"/>
          <a:lstStyle/>
          <a:p>
            <a:pPr algn="ctr" indent="0" marL="0">
              <a:buNone/>
            </a:pPr>
            <a:r>
              <a:rPr lang="en-US" sz="1150" dirty="0">
                <a:solidFill>
                  <a:srgbClr val="DBEAFE"/>
                </a:solidFill>
                <a:latin typeface="Calibri" pitchFamily="34" charset="0"/>
                <a:ea typeface="Calibri" pitchFamily="34" charset="-122"/>
                <a:cs typeface="Calibri" pitchFamily="34" charset="-120"/>
              </a:rPr>
              <a:t>Onboarding</a:t>
            </a:r>
            <a:endParaRPr lang="en-US" sz="1150" dirty="0"/>
          </a:p>
          <a:p>
            <a:pPr algn="ctr" indent="0" marL="0">
              <a:buNone/>
            </a:pPr>
            <a:r>
              <a:rPr lang="en-US" sz="1150" dirty="0">
                <a:solidFill>
                  <a:srgbClr val="DBEAFE"/>
                </a:solidFill>
                <a:latin typeface="Calibri" pitchFamily="34" charset="0"/>
                <a:ea typeface="Calibri" pitchFamily="34" charset="-122"/>
                <a:cs typeface="Calibri" pitchFamily="34" charset="-120"/>
              </a:rPr>
              <a:t>Abandonment</a:t>
            </a:r>
            <a:endParaRPr lang="en-US" sz="1150" dirty="0"/>
          </a:p>
        </p:txBody>
      </p:sp>
      <p:sp>
        <p:nvSpPr>
          <p:cNvPr id="11" name="Shape 9"/>
          <p:cNvSpPr/>
          <p:nvPr/>
        </p:nvSpPr>
        <p:spPr>
          <a:xfrm>
            <a:off x="6126480" y="1005840"/>
            <a:ext cx="2743200" cy="1371600"/>
          </a:xfrm>
          <a:prstGeom prst="roundRect">
            <a:avLst>
              <a:gd name="adj" fmla="val 8000"/>
            </a:avLst>
          </a:prstGeom>
          <a:solidFill>
            <a:srgbClr val="8B5CF6"/>
          </a:solidFill>
          <a:ln w="12700">
            <a:solidFill>
              <a:srgbClr val="8B5CF6"/>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6126480" y="1051560"/>
            <a:ext cx="2743200" cy="6858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2.8x</a:t>
            </a:r>
            <a:endParaRPr lang="en-US" sz="3800" dirty="0"/>
          </a:p>
        </p:txBody>
      </p:sp>
      <p:sp>
        <p:nvSpPr>
          <p:cNvPr id="13" name="Text 11"/>
          <p:cNvSpPr/>
          <p:nvPr/>
        </p:nvSpPr>
        <p:spPr>
          <a:xfrm>
            <a:off x="6126480" y="1719072"/>
            <a:ext cx="2743200" cy="594360"/>
          </a:xfrm>
          <a:prstGeom prst="rect">
            <a:avLst/>
          </a:prstGeom>
          <a:noFill/>
          <a:ln/>
        </p:spPr>
        <p:txBody>
          <a:bodyPr wrap="square" rtlCol="0" anchor="ctr"/>
          <a:lstStyle/>
          <a:p>
            <a:pPr algn="ctr" indent="0" marL="0">
              <a:buNone/>
            </a:pPr>
            <a:r>
              <a:rPr lang="en-US" sz="1150" dirty="0">
                <a:solidFill>
                  <a:srgbClr val="DBEAFE"/>
                </a:solidFill>
                <a:latin typeface="Calibri" pitchFamily="34" charset="0"/>
                <a:ea typeface="Calibri" pitchFamily="34" charset="-122"/>
                <a:cs typeface="Calibri" pitchFamily="34" charset="-120"/>
              </a:rPr>
              <a:t>Digital Transaction</a:t>
            </a:r>
            <a:endParaRPr lang="en-US" sz="1150" dirty="0"/>
          </a:p>
          <a:p>
            <a:pPr algn="ctr" indent="0" marL="0">
              <a:buNone/>
            </a:pPr>
            <a:r>
              <a:rPr lang="en-US" sz="1150" dirty="0">
                <a:solidFill>
                  <a:srgbClr val="DBEAFE"/>
                </a:solidFill>
                <a:latin typeface="Calibri" pitchFamily="34" charset="0"/>
                <a:ea typeface="Calibri" pitchFamily="34" charset="-122"/>
                <a:cs typeface="Calibri" pitchFamily="34" charset="-120"/>
              </a:rPr>
              <a:t>Volume</a:t>
            </a:r>
            <a:endParaRPr lang="en-US" sz="1150" dirty="0"/>
          </a:p>
        </p:txBody>
      </p:sp>
      <p:graphicFrame>
        <p:nvGraphicFramePr>
          <p:cNvPr id="14" name="Chart 0" descr=""/>
          <p:cNvGraphicFramePr/>
          <p:nvPr/>
        </p:nvGraphicFramePr>
        <p:xfrm>
          <a:off x="274320" y="2560320"/>
          <a:ext cx="5029200" cy="233172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5577840" y="2514600"/>
            <a:ext cx="3291840" cy="621792"/>
          </a:xfrm>
          <a:prstGeom prst="roundRect">
            <a:avLst>
              <a:gd name="adj" fmla="val 1176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Text 13"/>
          <p:cNvSpPr/>
          <p:nvPr/>
        </p:nvSpPr>
        <p:spPr>
          <a:xfrm>
            <a:off x="5669280" y="2514600"/>
            <a:ext cx="914400" cy="621792"/>
          </a:xfrm>
          <a:prstGeom prst="rect">
            <a:avLst/>
          </a:prstGeom>
          <a:noFill/>
          <a:ln/>
        </p:spPr>
        <p:txBody>
          <a:bodyPr wrap="square" rtlCol="0" anchor="ctr"/>
          <a:lstStyle/>
          <a:p>
            <a:pPr indent="0" marL="0">
              <a:buNone/>
            </a:pPr>
            <a:r>
              <a:rPr lang="en-US" sz="1700" b="1" dirty="0">
                <a:solidFill>
                  <a:srgbClr val="F59E0B"/>
                </a:solidFill>
                <a:latin typeface="Cambria" pitchFamily="34" charset="0"/>
                <a:ea typeface="Cambria" pitchFamily="34" charset="-122"/>
                <a:cs typeface="Cambria" pitchFamily="34" charset="-120"/>
              </a:rPr>
              <a:t>38%↓</a:t>
            </a:r>
            <a:endParaRPr lang="en-US" sz="1700" dirty="0"/>
          </a:p>
        </p:txBody>
      </p:sp>
      <p:sp>
        <p:nvSpPr>
          <p:cNvPr id="17" name="Text 14"/>
          <p:cNvSpPr/>
          <p:nvPr/>
        </p:nvSpPr>
        <p:spPr>
          <a:xfrm>
            <a:off x="6629400" y="2514600"/>
            <a:ext cx="2148840" cy="62179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Reduction in Support Calls</a:t>
            </a:r>
            <a:endParaRPr lang="en-US" sz="1100" dirty="0"/>
          </a:p>
        </p:txBody>
      </p:sp>
      <p:sp>
        <p:nvSpPr>
          <p:cNvPr id="18" name="Shape 15"/>
          <p:cNvSpPr/>
          <p:nvPr/>
        </p:nvSpPr>
        <p:spPr>
          <a:xfrm>
            <a:off x="5577840" y="3264408"/>
            <a:ext cx="3291840" cy="621792"/>
          </a:xfrm>
          <a:prstGeom prst="roundRect">
            <a:avLst>
              <a:gd name="adj" fmla="val 1176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Text 16"/>
          <p:cNvSpPr/>
          <p:nvPr/>
        </p:nvSpPr>
        <p:spPr>
          <a:xfrm>
            <a:off x="5669280" y="3264408"/>
            <a:ext cx="914400" cy="621792"/>
          </a:xfrm>
          <a:prstGeom prst="rect">
            <a:avLst/>
          </a:prstGeom>
          <a:noFill/>
          <a:ln/>
        </p:spPr>
        <p:txBody>
          <a:bodyPr wrap="square" rtlCol="0" anchor="ctr"/>
          <a:lstStyle/>
          <a:p>
            <a:pPr indent="0" marL="0">
              <a:buNone/>
            </a:pPr>
            <a:r>
              <a:rPr lang="en-US" sz="1700" b="1" dirty="0">
                <a:solidFill>
                  <a:srgbClr val="0D9488"/>
                </a:solidFill>
                <a:latin typeface="Cambria" pitchFamily="34" charset="0"/>
                <a:ea typeface="Cambria" pitchFamily="34" charset="-122"/>
                <a:cs typeface="Cambria" pitchFamily="34" charset="-120"/>
              </a:rPr>
              <a:t>60%↑</a:t>
            </a:r>
            <a:endParaRPr lang="en-US" sz="1700" dirty="0"/>
          </a:p>
        </p:txBody>
      </p:sp>
      <p:sp>
        <p:nvSpPr>
          <p:cNvPr id="20" name="Text 17"/>
          <p:cNvSpPr/>
          <p:nvPr/>
        </p:nvSpPr>
        <p:spPr>
          <a:xfrm>
            <a:off x="6629400" y="3264408"/>
            <a:ext cx="2148840" cy="62179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Increase in Customer LTV</a:t>
            </a:r>
            <a:endParaRPr lang="en-US" sz="1100" dirty="0"/>
          </a:p>
        </p:txBody>
      </p:sp>
      <p:sp>
        <p:nvSpPr>
          <p:cNvPr id="21" name="Shape 18"/>
          <p:cNvSpPr/>
          <p:nvPr/>
        </p:nvSpPr>
        <p:spPr>
          <a:xfrm>
            <a:off x="5577840" y="4014216"/>
            <a:ext cx="3291840" cy="621792"/>
          </a:xfrm>
          <a:prstGeom prst="roundRect">
            <a:avLst>
              <a:gd name="adj" fmla="val 1176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Text 19"/>
          <p:cNvSpPr/>
          <p:nvPr/>
        </p:nvSpPr>
        <p:spPr>
          <a:xfrm>
            <a:off x="5669280" y="4014216"/>
            <a:ext cx="914400" cy="621792"/>
          </a:xfrm>
          <a:prstGeom prst="rect">
            <a:avLst/>
          </a:prstGeom>
          <a:noFill/>
          <a:ln/>
        </p:spPr>
        <p:txBody>
          <a:bodyPr wrap="square" rtlCol="0" anchor="ctr"/>
          <a:lstStyle/>
          <a:p>
            <a:pPr indent="0" marL="0">
              <a:buNone/>
            </a:pPr>
            <a:r>
              <a:rPr lang="en-US" sz="1700" b="1" dirty="0">
                <a:solidFill>
                  <a:srgbClr val="8B5CF6"/>
                </a:solidFill>
                <a:latin typeface="Cambria" pitchFamily="34" charset="0"/>
                <a:ea typeface="Cambria" pitchFamily="34" charset="-122"/>
                <a:cs typeface="Cambria" pitchFamily="34" charset="-120"/>
              </a:rPr>
              <a:t>+28pts</a:t>
            </a:r>
            <a:endParaRPr lang="en-US" sz="1700" dirty="0"/>
          </a:p>
        </p:txBody>
      </p:sp>
      <p:sp>
        <p:nvSpPr>
          <p:cNvPr id="23" name="Text 20"/>
          <p:cNvSpPr/>
          <p:nvPr/>
        </p:nvSpPr>
        <p:spPr>
          <a:xfrm>
            <a:off x="6629400" y="4014216"/>
            <a:ext cx="2148840" cy="62179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Digital NPS Improvement</a:t>
            </a:r>
            <a:endParaRPr lang="en-US" sz="1100" dirty="0"/>
          </a:p>
        </p:txBody>
      </p:sp>
      <p:sp>
        <p:nvSpPr>
          <p:cNvPr id="24" name="Shape 21"/>
          <p:cNvSpPr/>
          <p:nvPr/>
        </p:nvSpPr>
        <p:spPr>
          <a:xfrm>
            <a:off x="5577840" y="4764024"/>
            <a:ext cx="3291840" cy="621792"/>
          </a:xfrm>
          <a:prstGeom prst="roundRect">
            <a:avLst>
              <a:gd name="adj" fmla="val 1176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Text 22"/>
          <p:cNvSpPr/>
          <p:nvPr/>
        </p:nvSpPr>
        <p:spPr>
          <a:xfrm>
            <a:off x="5669280" y="4764024"/>
            <a:ext cx="914400" cy="621792"/>
          </a:xfrm>
          <a:prstGeom prst="rect">
            <a:avLst/>
          </a:prstGeom>
          <a:noFill/>
          <a:ln/>
        </p:spPr>
        <p:txBody>
          <a:bodyPr wrap="square" rtlCol="0" anchor="ctr"/>
          <a:lstStyle/>
          <a:p>
            <a:pPr indent="0" marL="0">
              <a:buNone/>
            </a:pPr>
            <a:r>
              <a:rPr lang="en-US" sz="1700" b="1" dirty="0">
                <a:solidFill>
                  <a:srgbClr val="10B981"/>
                </a:solidFill>
                <a:latin typeface="Cambria" pitchFamily="34" charset="0"/>
                <a:ea typeface="Cambria" pitchFamily="34" charset="-122"/>
                <a:cs typeface="Cambria" pitchFamily="34" charset="-120"/>
              </a:rPr>
              <a:t>₹800↓</a:t>
            </a:r>
            <a:endParaRPr lang="en-US" sz="1700" dirty="0"/>
          </a:p>
        </p:txBody>
      </p:sp>
      <p:sp>
        <p:nvSpPr>
          <p:cNvPr id="26" name="Text 23"/>
          <p:cNvSpPr/>
          <p:nvPr/>
        </p:nvSpPr>
        <p:spPr>
          <a:xfrm>
            <a:off x="6629400" y="4764024"/>
            <a:ext cx="2148840" cy="62179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Cost per Acquisition Drop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TECHNOLOGY STACK</a:t>
            </a:r>
            <a:endParaRPr lang="en-US" sz="1100" dirty="0"/>
          </a:p>
        </p:txBody>
      </p:sp>
      <p:sp>
        <p:nvSpPr>
          <p:cNvPr id="4" name="Text 2"/>
          <p:cNvSpPr/>
          <p:nvPr/>
        </p:nvSpPr>
        <p:spPr>
          <a:xfrm>
            <a:off x="365760" y="384048"/>
            <a:ext cx="73152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Enterprise-Grade, Cloud-Native, AI-First</a:t>
            </a:r>
            <a:endParaRPr lang="en-US" sz="2400" dirty="0"/>
          </a:p>
        </p:txBody>
      </p:sp>
      <p:sp>
        <p:nvSpPr>
          <p:cNvPr id="5" name="Shape 3"/>
          <p:cNvSpPr/>
          <p:nvPr/>
        </p:nvSpPr>
        <p:spPr>
          <a:xfrm>
            <a:off x="274320" y="1051560"/>
            <a:ext cx="1554480" cy="621792"/>
          </a:xfrm>
          <a:prstGeom prst="roundRect">
            <a:avLst>
              <a:gd name="adj" fmla="val 11765"/>
            </a:avLst>
          </a:prstGeom>
          <a:solidFill>
            <a:srgbClr val="3B82F6"/>
          </a:solidFill>
          <a:ln w="12700">
            <a:solidFill>
              <a:srgbClr val="3B82F6"/>
            </a:solidFill>
            <a:prstDash val="solid"/>
          </a:ln>
        </p:spPr>
      </p:sp>
      <p:sp>
        <p:nvSpPr>
          <p:cNvPr id="6" name="Text 4"/>
          <p:cNvSpPr/>
          <p:nvPr/>
        </p:nvSpPr>
        <p:spPr>
          <a:xfrm>
            <a:off x="274320" y="1051560"/>
            <a:ext cx="1554480" cy="6217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Frontend</a:t>
            </a:r>
            <a:endParaRPr lang="en-US" sz="1050" dirty="0"/>
          </a:p>
        </p:txBody>
      </p:sp>
      <p:sp>
        <p:nvSpPr>
          <p:cNvPr id="7" name="Shape 5"/>
          <p:cNvSpPr/>
          <p:nvPr/>
        </p:nvSpPr>
        <p:spPr>
          <a:xfrm>
            <a:off x="1828800" y="1362456"/>
            <a:ext cx="228600" cy="0"/>
          </a:xfrm>
          <a:prstGeom prst="line">
            <a:avLst/>
          </a:prstGeom>
          <a:noFill/>
          <a:ln w="19050">
            <a:solidFill>
              <a:srgbClr val="3B82F6"/>
            </a:solidFill>
            <a:prstDash val="solid"/>
          </a:ln>
        </p:spPr>
      </p:sp>
      <p:sp>
        <p:nvSpPr>
          <p:cNvPr id="8" name="Shape 6"/>
          <p:cNvSpPr/>
          <p:nvPr/>
        </p:nvSpPr>
        <p:spPr>
          <a:xfrm>
            <a:off x="2103120" y="1143000"/>
            <a:ext cx="2148840" cy="438912"/>
          </a:xfrm>
          <a:prstGeom prst="roundRect">
            <a:avLst>
              <a:gd name="adj" fmla="val 16667"/>
            </a:avLst>
          </a:prstGeom>
          <a:solidFill>
            <a:srgbClr val="3B82F6">
              <a:alpha val="88000"/>
            </a:srgbClr>
          </a:solidFill>
          <a:ln w="12700">
            <a:solidFill>
              <a:srgbClr val="3B82F6"/>
            </a:solidFill>
            <a:prstDash val="solid"/>
          </a:ln>
        </p:spPr>
      </p:sp>
      <p:sp>
        <p:nvSpPr>
          <p:cNvPr id="9" name="Text 7"/>
          <p:cNvSpPr/>
          <p:nvPr/>
        </p:nvSpPr>
        <p:spPr>
          <a:xfrm>
            <a:off x="2103120" y="1143000"/>
            <a:ext cx="2148840" cy="438912"/>
          </a:xfrm>
          <a:prstGeom prst="rect">
            <a:avLst/>
          </a:prstGeom>
          <a:noFill/>
          <a:ln/>
        </p:spPr>
        <p:txBody>
          <a:bodyPr wrap="square" lIns="0" tIns="0" rIns="0" bIns="0" rtlCol="0" anchor="ctr"/>
          <a:lstStyle/>
          <a:p>
            <a:pPr algn="ctr" indent="0" marL="0">
              <a:buNone/>
            </a:pPr>
            <a:r>
              <a:rPr lang="en-US" sz="1050" b="1" dirty="0">
                <a:solidFill>
                  <a:srgbClr val="3B82F6"/>
                </a:solidFill>
                <a:latin typeface="Calibri" pitchFamily="34" charset="0"/>
                <a:ea typeface="Calibri" pitchFamily="34" charset="-122"/>
                <a:cs typeface="Calibri" pitchFamily="34" charset="-120"/>
              </a:rPr>
              <a:t>React.js</a:t>
            </a:r>
            <a:endParaRPr lang="en-US" sz="1050" dirty="0"/>
          </a:p>
        </p:txBody>
      </p:sp>
      <p:sp>
        <p:nvSpPr>
          <p:cNvPr id="10" name="Shape 8"/>
          <p:cNvSpPr/>
          <p:nvPr/>
        </p:nvSpPr>
        <p:spPr>
          <a:xfrm>
            <a:off x="4434840" y="1143000"/>
            <a:ext cx="2148840" cy="438912"/>
          </a:xfrm>
          <a:prstGeom prst="roundRect">
            <a:avLst>
              <a:gd name="adj" fmla="val 16667"/>
            </a:avLst>
          </a:prstGeom>
          <a:solidFill>
            <a:srgbClr val="3B82F6">
              <a:alpha val="88000"/>
            </a:srgbClr>
          </a:solidFill>
          <a:ln w="12700">
            <a:solidFill>
              <a:srgbClr val="3B82F6"/>
            </a:solidFill>
            <a:prstDash val="solid"/>
          </a:ln>
        </p:spPr>
      </p:sp>
      <p:sp>
        <p:nvSpPr>
          <p:cNvPr id="11" name="Text 9"/>
          <p:cNvSpPr/>
          <p:nvPr/>
        </p:nvSpPr>
        <p:spPr>
          <a:xfrm>
            <a:off x="4434840" y="1143000"/>
            <a:ext cx="2148840" cy="438912"/>
          </a:xfrm>
          <a:prstGeom prst="rect">
            <a:avLst/>
          </a:prstGeom>
          <a:noFill/>
          <a:ln/>
        </p:spPr>
        <p:txBody>
          <a:bodyPr wrap="square" lIns="0" tIns="0" rIns="0" bIns="0" rtlCol="0" anchor="ctr"/>
          <a:lstStyle/>
          <a:p>
            <a:pPr algn="ctr" indent="0" marL="0">
              <a:buNone/>
            </a:pPr>
            <a:r>
              <a:rPr lang="en-US" sz="1050" b="1" dirty="0">
                <a:solidFill>
                  <a:srgbClr val="3B82F6"/>
                </a:solidFill>
                <a:latin typeface="Calibri" pitchFamily="34" charset="0"/>
                <a:ea typeface="Calibri" pitchFamily="34" charset="-122"/>
                <a:cs typeface="Calibri" pitchFamily="34" charset="-120"/>
              </a:rPr>
              <a:t>TypeScript</a:t>
            </a:r>
            <a:endParaRPr lang="en-US" sz="1050" dirty="0"/>
          </a:p>
        </p:txBody>
      </p:sp>
      <p:sp>
        <p:nvSpPr>
          <p:cNvPr id="12" name="Shape 10"/>
          <p:cNvSpPr/>
          <p:nvPr/>
        </p:nvSpPr>
        <p:spPr>
          <a:xfrm>
            <a:off x="6766560" y="1143000"/>
            <a:ext cx="2148840" cy="438912"/>
          </a:xfrm>
          <a:prstGeom prst="roundRect">
            <a:avLst>
              <a:gd name="adj" fmla="val 16667"/>
            </a:avLst>
          </a:prstGeom>
          <a:solidFill>
            <a:srgbClr val="3B82F6">
              <a:alpha val="88000"/>
            </a:srgbClr>
          </a:solidFill>
          <a:ln w="12700">
            <a:solidFill>
              <a:srgbClr val="3B82F6"/>
            </a:solidFill>
            <a:prstDash val="solid"/>
          </a:ln>
        </p:spPr>
      </p:sp>
      <p:sp>
        <p:nvSpPr>
          <p:cNvPr id="13" name="Text 11"/>
          <p:cNvSpPr/>
          <p:nvPr/>
        </p:nvSpPr>
        <p:spPr>
          <a:xfrm>
            <a:off x="6766560" y="1143000"/>
            <a:ext cx="2148840" cy="438912"/>
          </a:xfrm>
          <a:prstGeom prst="rect">
            <a:avLst/>
          </a:prstGeom>
          <a:noFill/>
          <a:ln/>
        </p:spPr>
        <p:txBody>
          <a:bodyPr wrap="square" lIns="0" tIns="0" rIns="0" bIns="0" rtlCol="0" anchor="ctr"/>
          <a:lstStyle/>
          <a:p>
            <a:pPr algn="ctr" indent="0" marL="0">
              <a:buNone/>
            </a:pPr>
            <a:r>
              <a:rPr lang="en-US" sz="1050" b="1" dirty="0">
                <a:solidFill>
                  <a:srgbClr val="3B82F6"/>
                </a:solidFill>
                <a:latin typeface="Calibri" pitchFamily="34" charset="0"/>
                <a:ea typeface="Calibri" pitchFamily="34" charset="-122"/>
                <a:cs typeface="Calibri" pitchFamily="34" charset="-120"/>
              </a:rPr>
              <a:t>Tailwind CSS</a:t>
            </a:r>
            <a:endParaRPr lang="en-US" sz="1050" dirty="0"/>
          </a:p>
        </p:txBody>
      </p:sp>
      <p:sp>
        <p:nvSpPr>
          <p:cNvPr id="14" name="Shape 12"/>
          <p:cNvSpPr/>
          <p:nvPr/>
        </p:nvSpPr>
        <p:spPr>
          <a:xfrm>
            <a:off x="274320" y="1847088"/>
            <a:ext cx="1554480" cy="621792"/>
          </a:xfrm>
          <a:prstGeom prst="roundRect">
            <a:avLst>
              <a:gd name="adj" fmla="val 11765"/>
            </a:avLst>
          </a:prstGeom>
          <a:solidFill>
            <a:srgbClr val="0D9488"/>
          </a:solidFill>
          <a:ln w="12700">
            <a:solidFill>
              <a:srgbClr val="0D9488"/>
            </a:solidFill>
            <a:prstDash val="solid"/>
          </a:ln>
        </p:spPr>
      </p:sp>
      <p:sp>
        <p:nvSpPr>
          <p:cNvPr id="15" name="Text 13"/>
          <p:cNvSpPr/>
          <p:nvPr/>
        </p:nvSpPr>
        <p:spPr>
          <a:xfrm>
            <a:off x="274320" y="1847088"/>
            <a:ext cx="1554480" cy="6217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API Layer</a:t>
            </a:r>
            <a:endParaRPr lang="en-US" sz="1050" dirty="0"/>
          </a:p>
        </p:txBody>
      </p:sp>
      <p:sp>
        <p:nvSpPr>
          <p:cNvPr id="16" name="Shape 14"/>
          <p:cNvSpPr/>
          <p:nvPr/>
        </p:nvSpPr>
        <p:spPr>
          <a:xfrm>
            <a:off x="1828800" y="2157984"/>
            <a:ext cx="228600" cy="0"/>
          </a:xfrm>
          <a:prstGeom prst="line">
            <a:avLst/>
          </a:prstGeom>
          <a:noFill/>
          <a:ln w="19050">
            <a:solidFill>
              <a:srgbClr val="0D9488"/>
            </a:solidFill>
            <a:prstDash val="solid"/>
          </a:ln>
        </p:spPr>
      </p:sp>
      <p:sp>
        <p:nvSpPr>
          <p:cNvPr id="17" name="Shape 15"/>
          <p:cNvSpPr/>
          <p:nvPr/>
        </p:nvSpPr>
        <p:spPr>
          <a:xfrm>
            <a:off x="2103120" y="1938528"/>
            <a:ext cx="2148840" cy="438912"/>
          </a:xfrm>
          <a:prstGeom prst="roundRect">
            <a:avLst>
              <a:gd name="adj" fmla="val 16667"/>
            </a:avLst>
          </a:prstGeom>
          <a:solidFill>
            <a:srgbClr val="0D9488">
              <a:alpha val="88000"/>
            </a:srgbClr>
          </a:solidFill>
          <a:ln w="12700">
            <a:solidFill>
              <a:srgbClr val="0D9488"/>
            </a:solidFill>
            <a:prstDash val="solid"/>
          </a:ln>
        </p:spPr>
      </p:sp>
      <p:sp>
        <p:nvSpPr>
          <p:cNvPr id="18" name="Text 16"/>
          <p:cNvSpPr/>
          <p:nvPr/>
        </p:nvSpPr>
        <p:spPr>
          <a:xfrm>
            <a:off x="2103120" y="1938528"/>
            <a:ext cx="2148840" cy="438912"/>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FastAPI</a:t>
            </a:r>
            <a:endParaRPr lang="en-US" sz="1050" dirty="0"/>
          </a:p>
        </p:txBody>
      </p:sp>
      <p:sp>
        <p:nvSpPr>
          <p:cNvPr id="19" name="Shape 17"/>
          <p:cNvSpPr/>
          <p:nvPr/>
        </p:nvSpPr>
        <p:spPr>
          <a:xfrm>
            <a:off x="4434840" y="1938528"/>
            <a:ext cx="2148840" cy="438912"/>
          </a:xfrm>
          <a:prstGeom prst="roundRect">
            <a:avLst>
              <a:gd name="adj" fmla="val 16667"/>
            </a:avLst>
          </a:prstGeom>
          <a:solidFill>
            <a:srgbClr val="0D9488">
              <a:alpha val="88000"/>
            </a:srgbClr>
          </a:solidFill>
          <a:ln w="12700">
            <a:solidFill>
              <a:srgbClr val="0D9488"/>
            </a:solidFill>
            <a:prstDash val="solid"/>
          </a:ln>
        </p:spPr>
      </p:sp>
      <p:sp>
        <p:nvSpPr>
          <p:cNvPr id="20" name="Text 18"/>
          <p:cNvSpPr/>
          <p:nvPr/>
        </p:nvSpPr>
        <p:spPr>
          <a:xfrm>
            <a:off x="4434840" y="1938528"/>
            <a:ext cx="2148840" cy="438912"/>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Python 3.11</a:t>
            </a:r>
            <a:endParaRPr lang="en-US" sz="1050" dirty="0"/>
          </a:p>
        </p:txBody>
      </p:sp>
      <p:sp>
        <p:nvSpPr>
          <p:cNvPr id="21" name="Shape 19"/>
          <p:cNvSpPr/>
          <p:nvPr/>
        </p:nvSpPr>
        <p:spPr>
          <a:xfrm>
            <a:off x="6766560" y="1938528"/>
            <a:ext cx="2148840" cy="438912"/>
          </a:xfrm>
          <a:prstGeom prst="roundRect">
            <a:avLst>
              <a:gd name="adj" fmla="val 16667"/>
            </a:avLst>
          </a:prstGeom>
          <a:solidFill>
            <a:srgbClr val="0D9488">
              <a:alpha val="88000"/>
            </a:srgbClr>
          </a:solidFill>
          <a:ln w="12700">
            <a:solidFill>
              <a:srgbClr val="0D9488"/>
            </a:solidFill>
            <a:prstDash val="solid"/>
          </a:ln>
        </p:spPr>
      </p:sp>
      <p:sp>
        <p:nvSpPr>
          <p:cNvPr id="22" name="Text 20"/>
          <p:cNvSpPr/>
          <p:nvPr/>
        </p:nvSpPr>
        <p:spPr>
          <a:xfrm>
            <a:off x="6766560" y="1938528"/>
            <a:ext cx="2148840" cy="438912"/>
          </a:xfrm>
          <a:prstGeom prst="rect">
            <a:avLst/>
          </a:prstGeom>
          <a:noFill/>
          <a:ln/>
        </p:spPr>
        <p:txBody>
          <a:bodyPr wrap="square" lIns="0" tIns="0" rIns="0" bIns="0" rtlCol="0" anchor="ctr"/>
          <a:lstStyle/>
          <a:p>
            <a:pPr algn="ctr" indent="0" marL="0">
              <a:buNone/>
            </a:pPr>
            <a:r>
              <a:rPr lang="en-US" sz="1050" b="1" dirty="0">
                <a:solidFill>
                  <a:srgbClr val="0D9488"/>
                </a:solidFill>
                <a:latin typeface="Calibri" pitchFamily="34" charset="0"/>
                <a:ea typeface="Calibri" pitchFamily="34" charset="-122"/>
                <a:cs typeface="Calibri" pitchFamily="34" charset="-120"/>
              </a:rPr>
              <a:t>REST + WebSocket</a:t>
            </a:r>
            <a:endParaRPr lang="en-US" sz="1050" dirty="0"/>
          </a:p>
        </p:txBody>
      </p:sp>
      <p:sp>
        <p:nvSpPr>
          <p:cNvPr id="23" name="Shape 21"/>
          <p:cNvSpPr/>
          <p:nvPr/>
        </p:nvSpPr>
        <p:spPr>
          <a:xfrm>
            <a:off x="274320" y="2642616"/>
            <a:ext cx="1554480" cy="621792"/>
          </a:xfrm>
          <a:prstGeom prst="roundRect">
            <a:avLst>
              <a:gd name="adj" fmla="val 11765"/>
            </a:avLst>
          </a:prstGeom>
          <a:solidFill>
            <a:srgbClr val="8B5CF6"/>
          </a:solidFill>
          <a:ln w="12700">
            <a:solidFill>
              <a:srgbClr val="8B5CF6"/>
            </a:solidFill>
            <a:prstDash val="solid"/>
          </a:ln>
        </p:spPr>
      </p:sp>
      <p:sp>
        <p:nvSpPr>
          <p:cNvPr id="24" name="Text 22"/>
          <p:cNvSpPr/>
          <p:nvPr/>
        </p:nvSpPr>
        <p:spPr>
          <a:xfrm>
            <a:off x="274320" y="2642616"/>
            <a:ext cx="1554480" cy="6217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Agents</a:t>
            </a:r>
            <a:endParaRPr lang="en-US" sz="1050" dirty="0"/>
          </a:p>
        </p:txBody>
      </p:sp>
      <p:sp>
        <p:nvSpPr>
          <p:cNvPr id="25" name="Shape 23"/>
          <p:cNvSpPr/>
          <p:nvPr/>
        </p:nvSpPr>
        <p:spPr>
          <a:xfrm>
            <a:off x="1828800" y="2953512"/>
            <a:ext cx="228600" cy="0"/>
          </a:xfrm>
          <a:prstGeom prst="line">
            <a:avLst/>
          </a:prstGeom>
          <a:noFill/>
          <a:ln w="19050">
            <a:solidFill>
              <a:srgbClr val="8B5CF6"/>
            </a:solidFill>
            <a:prstDash val="solid"/>
          </a:ln>
        </p:spPr>
      </p:sp>
      <p:sp>
        <p:nvSpPr>
          <p:cNvPr id="26" name="Shape 24"/>
          <p:cNvSpPr/>
          <p:nvPr/>
        </p:nvSpPr>
        <p:spPr>
          <a:xfrm>
            <a:off x="2103120" y="2734056"/>
            <a:ext cx="2148840" cy="438912"/>
          </a:xfrm>
          <a:prstGeom prst="roundRect">
            <a:avLst>
              <a:gd name="adj" fmla="val 16667"/>
            </a:avLst>
          </a:prstGeom>
          <a:solidFill>
            <a:srgbClr val="8B5CF6">
              <a:alpha val="88000"/>
            </a:srgbClr>
          </a:solidFill>
          <a:ln w="12700">
            <a:solidFill>
              <a:srgbClr val="8B5CF6"/>
            </a:solidFill>
            <a:prstDash val="solid"/>
          </a:ln>
        </p:spPr>
      </p:sp>
      <p:sp>
        <p:nvSpPr>
          <p:cNvPr id="27" name="Text 25"/>
          <p:cNvSpPr/>
          <p:nvPr/>
        </p:nvSpPr>
        <p:spPr>
          <a:xfrm>
            <a:off x="2103120" y="2734056"/>
            <a:ext cx="2148840" cy="438912"/>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LangGraph</a:t>
            </a:r>
            <a:endParaRPr lang="en-US" sz="1050" dirty="0"/>
          </a:p>
        </p:txBody>
      </p:sp>
      <p:sp>
        <p:nvSpPr>
          <p:cNvPr id="28" name="Shape 26"/>
          <p:cNvSpPr/>
          <p:nvPr/>
        </p:nvSpPr>
        <p:spPr>
          <a:xfrm>
            <a:off x="4434840" y="2734056"/>
            <a:ext cx="2148840" cy="438912"/>
          </a:xfrm>
          <a:prstGeom prst="roundRect">
            <a:avLst>
              <a:gd name="adj" fmla="val 16667"/>
            </a:avLst>
          </a:prstGeom>
          <a:solidFill>
            <a:srgbClr val="8B5CF6">
              <a:alpha val="88000"/>
            </a:srgbClr>
          </a:solidFill>
          <a:ln w="12700">
            <a:solidFill>
              <a:srgbClr val="8B5CF6"/>
            </a:solidFill>
            <a:prstDash val="solid"/>
          </a:ln>
        </p:spPr>
      </p:sp>
      <p:sp>
        <p:nvSpPr>
          <p:cNvPr id="29" name="Text 27"/>
          <p:cNvSpPr/>
          <p:nvPr/>
        </p:nvSpPr>
        <p:spPr>
          <a:xfrm>
            <a:off x="4434840" y="2734056"/>
            <a:ext cx="2148840" cy="438912"/>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CrewAI</a:t>
            </a:r>
            <a:endParaRPr lang="en-US" sz="1050" dirty="0"/>
          </a:p>
        </p:txBody>
      </p:sp>
      <p:sp>
        <p:nvSpPr>
          <p:cNvPr id="30" name="Shape 28"/>
          <p:cNvSpPr/>
          <p:nvPr/>
        </p:nvSpPr>
        <p:spPr>
          <a:xfrm>
            <a:off x="6766560" y="2734056"/>
            <a:ext cx="2148840" cy="438912"/>
          </a:xfrm>
          <a:prstGeom prst="roundRect">
            <a:avLst>
              <a:gd name="adj" fmla="val 16667"/>
            </a:avLst>
          </a:prstGeom>
          <a:solidFill>
            <a:srgbClr val="8B5CF6">
              <a:alpha val="88000"/>
            </a:srgbClr>
          </a:solidFill>
          <a:ln w="12700">
            <a:solidFill>
              <a:srgbClr val="8B5CF6"/>
            </a:solidFill>
            <a:prstDash val="solid"/>
          </a:ln>
        </p:spPr>
      </p:sp>
      <p:sp>
        <p:nvSpPr>
          <p:cNvPr id="31" name="Text 29"/>
          <p:cNvSpPr/>
          <p:nvPr/>
        </p:nvSpPr>
        <p:spPr>
          <a:xfrm>
            <a:off x="6766560" y="2734056"/>
            <a:ext cx="2148840" cy="438912"/>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LangChain</a:t>
            </a:r>
            <a:endParaRPr lang="en-US" sz="1050" dirty="0"/>
          </a:p>
        </p:txBody>
      </p:sp>
      <p:sp>
        <p:nvSpPr>
          <p:cNvPr id="32" name="Shape 30"/>
          <p:cNvSpPr/>
          <p:nvPr/>
        </p:nvSpPr>
        <p:spPr>
          <a:xfrm>
            <a:off x="9098280" y="2734056"/>
            <a:ext cx="2148840" cy="438912"/>
          </a:xfrm>
          <a:prstGeom prst="roundRect">
            <a:avLst>
              <a:gd name="adj" fmla="val 16667"/>
            </a:avLst>
          </a:prstGeom>
          <a:solidFill>
            <a:srgbClr val="8B5CF6">
              <a:alpha val="88000"/>
            </a:srgbClr>
          </a:solidFill>
          <a:ln w="12700">
            <a:solidFill>
              <a:srgbClr val="8B5CF6"/>
            </a:solidFill>
            <a:prstDash val="solid"/>
          </a:ln>
        </p:spPr>
      </p:sp>
      <p:sp>
        <p:nvSpPr>
          <p:cNvPr id="33" name="Text 31"/>
          <p:cNvSpPr/>
          <p:nvPr/>
        </p:nvSpPr>
        <p:spPr>
          <a:xfrm>
            <a:off x="9098280" y="2734056"/>
            <a:ext cx="2148840" cy="438912"/>
          </a:xfrm>
          <a:prstGeom prst="rect">
            <a:avLst/>
          </a:prstGeom>
          <a:noFill/>
          <a:ln/>
        </p:spPr>
        <p:txBody>
          <a:bodyPr wrap="square" lIns="0" tIns="0" rIns="0" bIns="0" rtlCol="0" anchor="ctr"/>
          <a:lstStyle/>
          <a:p>
            <a:pPr algn="ctr" indent="0" marL="0">
              <a:buNone/>
            </a:pPr>
            <a:r>
              <a:rPr lang="en-US" sz="1050" b="1" dirty="0">
                <a:solidFill>
                  <a:srgbClr val="8B5CF6"/>
                </a:solidFill>
                <a:latin typeface="Calibri" pitchFamily="34" charset="0"/>
                <a:ea typeface="Calibri" pitchFamily="34" charset="-122"/>
                <a:cs typeface="Calibri" pitchFamily="34" charset="-120"/>
              </a:rPr>
              <a:t>OpenAI GPT-4 / Llama 3</a:t>
            </a:r>
            <a:endParaRPr lang="en-US" sz="1050" dirty="0"/>
          </a:p>
        </p:txBody>
      </p:sp>
      <p:sp>
        <p:nvSpPr>
          <p:cNvPr id="34" name="Shape 32"/>
          <p:cNvSpPr/>
          <p:nvPr/>
        </p:nvSpPr>
        <p:spPr>
          <a:xfrm>
            <a:off x="274320" y="3438144"/>
            <a:ext cx="1554480" cy="621792"/>
          </a:xfrm>
          <a:prstGeom prst="roundRect">
            <a:avLst>
              <a:gd name="adj" fmla="val 11765"/>
            </a:avLst>
          </a:prstGeom>
          <a:solidFill>
            <a:srgbClr val="F59E0B"/>
          </a:solidFill>
          <a:ln w="12700">
            <a:solidFill>
              <a:srgbClr val="F59E0B"/>
            </a:solidFill>
            <a:prstDash val="solid"/>
          </a:ln>
        </p:spPr>
      </p:sp>
      <p:sp>
        <p:nvSpPr>
          <p:cNvPr id="35" name="Text 33"/>
          <p:cNvSpPr/>
          <p:nvPr/>
        </p:nvSpPr>
        <p:spPr>
          <a:xfrm>
            <a:off x="274320" y="3438144"/>
            <a:ext cx="1554480" cy="6217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 Layer</a:t>
            </a:r>
            <a:endParaRPr lang="en-US" sz="1050" dirty="0"/>
          </a:p>
        </p:txBody>
      </p:sp>
      <p:sp>
        <p:nvSpPr>
          <p:cNvPr id="36" name="Shape 34"/>
          <p:cNvSpPr/>
          <p:nvPr/>
        </p:nvSpPr>
        <p:spPr>
          <a:xfrm>
            <a:off x="1828800" y="3749040"/>
            <a:ext cx="228600" cy="0"/>
          </a:xfrm>
          <a:prstGeom prst="line">
            <a:avLst/>
          </a:prstGeom>
          <a:noFill/>
          <a:ln w="19050">
            <a:solidFill>
              <a:srgbClr val="F59E0B"/>
            </a:solidFill>
            <a:prstDash val="solid"/>
          </a:ln>
        </p:spPr>
      </p:sp>
      <p:sp>
        <p:nvSpPr>
          <p:cNvPr id="37" name="Shape 35"/>
          <p:cNvSpPr/>
          <p:nvPr/>
        </p:nvSpPr>
        <p:spPr>
          <a:xfrm>
            <a:off x="2103120" y="3529584"/>
            <a:ext cx="2148840" cy="438912"/>
          </a:xfrm>
          <a:prstGeom prst="roundRect">
            <a:avLst>
              <a:gd name="adj" fmla="val 16667"/>
            </a:avLst>
          </a:prstGeom>
          <a:solidFill>
            <a:srgbClr val="F59E0B">
              <a:alpha val="88000"/>
            </a:srgbClr>
          </a:solidFill>
          <a:ln w="12700">
            <a:solidFill>
              <a:srgbClr val="F59E0B"/>
            </a:solidFill>
            <a:prstDash val="solid"/>
          </a:ln>
        </p:spPr>
      </p:sp>
      <p:sp>
        <p:nvSpPr>
          <p:cNvPr id="38" name="Text 36"/>
          <p:cNvSpPr/>
          <p:nvPr/>
        </p:nvSpPr>
        <p:spPr>
          <a:xfrm>
            <a:off x="2103120" y="3529584"/>
            <a:ext cx="2148840" cy="438912"/>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PostgreSQL</a:t>
            </a:r>
            <a:endParaRPr lang="en-US" sz="1050" dirty="0"/>
          </a:p>
        </p:txBody>
      </p:sp>
      <p:sp>
        <p:nvSpPr>
          <p:cNvPr id="39" name="Shape 37"/>
          <p:cNvSpPr/>
          <p:nvPr/>
        </p:nvSpPr>
        <p:spPr>
          <a:xfrm>
            <a:off x="4434840" y="3529584"/>
            <a:ext cx="2148840" cy="438912"/>
          </a:xfrm>
          <a:prstGeom prst="roundRect">
            <a:avLst>
              <a:gd name="adj" fmla="val 16667"/>
            </a:avLst>
          </a:prstGeom>
          <a:solidFill>
            <a:srgbClr val="F59E0B">
              <a:alpha val="88000"/>
            </a:srgbClr>
          </a:solidFill>
          <a:ln w="12700">
            <a:solidFill>
              <a:srgbClr val="F59E0B"/>
            </a:solidFill>
            <a:prstDash val="solid"/>
          </a:ln>
        </p:spPr>
      </p:sp>
      <p:sp>
        <p:nvSpPr>
          <p:cNvPr id="40" name="Text 38"/>
          <p:cNvSpPr/>
          <p:nvPr/>
        </p:nvSpPr>
        <p:spPr>
          <a:xfrm>
            <a:off x="4434840" y="3529584"/>
            <a:ext cx="2148840" cy="438912"/>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ChromaDB (Vector)</a:t>
            </a:r>
            <a:endParaRPr lang="en-US" sz="1050" dirty="0"/>
          </a:p>
        </p:txBody>
      </p:sp>
      <p:sp>
        <p:nvSpPr>
          <p:cNvPr id="41" name="Shape 39"/>
          <p:cNvSpPr/>
          <p:nvPr/>
        </p:nvSpPr>
        <p:spPr>
          <a:xfrm>
            <a:off x="6766560" y="3529584"/>
            <a:ext cx="2148840" cy="438912"/>
          </a:xfrm>
          <a:prstGeom prst="roundRect">
            <a:avLst>
              <a:gd name="adj" fmla="val 16667"/>
            </a:avLst>
          </a:prstGeom>
          <a:solidFill>
            <a:srgbClr val="F59E0B">
              <a:alpha val="88000"/>
            </a:srgbClr>
          </a:solidFill>
          <a:ln w="12700">
            <a:solidFill>
              <a:srgbClr val="F59E0B"/>
            </a:solidFill>
            <a:prstDash val="solid"/>
          </a:ln>
        </p:spPr>
      </p:sp>
      <p:sp>
        <p:nvSpPr>
          <p:cNvPr id="42" name="Text 40"/>
          <p:cNvSpPr/>
          <p:nvPr/>
        </p:nvSpPr>
        <p:spPr>
          <a:xfrm>
            <a:off x="6766560" y="3529584"/>
            <a:ext cx="2148840" cy="438912"/>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Redis Cache</a:t>
            </a:r>
            <a:endParaRPr lang="en-US" sz="1050" dirty="0"/>
          </a:p>
        </p:txBody>
      </p:sp>
      <p:sp>
        <p:nvSpPr>
          <p:cNvPr id="43" name="Shape 41"/>
          <p:cNvSpPr/>
          <p:nvPr/>
        </p:nvSpPr>
        <p:spPr>
          <a:xfrm>
            <a:off x="274320" y="4233672"/>
            <a:ext cx="1554480" cy="621792"/>
          </a:xfrm>
          <a:prstGeom prst="roundRect">
            <a:avLst>
              <a:gd name="adj" fmla="val 11765"/>
            </a:avLst>
          </a:prstGeom>
          <a:solidFill>
            <a:srgbClr val="EF4444"/>
          </a:solidFill>
          <a:ln w="12700">
            <a:solidFill>
              <a:srgbClr val="EF4444"/>
            </a:solidFill>
            <a:prstDash val="solid"/>
          </a:ln>
        </p:spPr>
      </p:sp>
      <p:sp>
        <p:nvSpPr>
          <p:cNvPr id="44" name="Text 42"/>
          <p:cNvSpPr/>
          <p:nvPr/>
        </p:nvSpPr>
        <p:spPr>
          <a:xfrm>
            <a:off x="274320" y="4233672"/>
            <a:ext cx="1554480" cy="6217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Infrastructure</a:t>
            </a:r>
            <a:endParaRPr lang="en-US" sz="1050" dirty="0"/>
          </a:p>
        </p:txBody>
      </p:sp>
      <p:sp>
        <p:nvSpPr>
          <p:cNvPr id="45" name="Shape 43"/>
          <p:cNvSpPr/>
          <p:nvPr/>
        </p:nvSpPr>
        <p:spPr>
          <a:xfrm>
            <a:off x="1828800" y="4544568"/>
            <a:ext cx="228600" cy="0"/>
          </a:xfrm>
          <a:prstGeom prst="line">
            <a:avLst/>
          </a:prstGeom>
          <a:noFill/>
          <a:ln w="19050">
            <a:solidFill>
              <a:srgbClr val="EF4444"/>
            </a:solidFill>
            <a:prstDash val="solid"/>
          </a:ln>
        </p:spPr>
      </p:sp>
      <p:sp>
        <p:nvSpPr>
          <p:cNvPr id="46" name="Shape 44"/>
          <p:cNvSpPr/>
          <p:nvPr/>
        </p:nvSpPr>
        <p:spPr>
          <a:xfrm>
            <a:off x="2103120" y="4325112"/>
            <a:ext cx="2148840" cy="438912"/>
          </a:xfrm>
          <a:prstGeom prst="roundRect">
            <a:avLst>
              <a:gd name="adj" fmla="val 16667"/>
            </a:avLst>
          </a:prstGeom>
          <a:solidFill>
            <a:srgbClr val="EF4444">
              <a:alpha val="88000"/>
            </a:srgbClr>
          </a:solidFill>
          <a:ln w="12700">
            <a:solidFill>
              <a:srgbClr val="EF4444"/>
            </a:solidFill>
            <a:prstDash val="solid"/>
          </a:ln>
        </p:spPr>
      </p:sp>
      <p:sp>
        <p:nvSpPr>
          <p:cNvPr id="47" name="Text 45"/>
          <p:cNvSpPr/>
          <p:nvPr/>
        </p:nvSpPr>
        <p:spPr>
          <a:xfrm>
            <a:off x="2103120" y="4325112"/>
            <a:ext cx="2148840" cy="43891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AWS (EKS, Lambda, S3)</a:t>
            </a:r>
            <a:endParaRPr lang="en-US" sz="1050" dirty="0"/>
          </a:p>
        </p:txBody>
      </p:sp>
      <p:sp>
        <p:nvSpPr>
          <p:cNvPr id="48" name="Shape 46"/>
          <p:cNvSpPr/>
          <p:nvPr/>
        </p:nvSpPr>
        <p:spPr>
          <a:xfrm>
            <a:off x="4434840" y="4325112"/>
            <a:ext cx="2148840" cy="438912"/>
          </a:xfrm>
          <a:prstGeom prst="roundRect">
            <a:avLst>
              <a:gd name="adj" fmla="val 16667"/>
            </a:avLst>
          </a:prstGeom>
          <a:solidFill>
            <a:srgbClr val="EF4444">
              <a:alpha val="88000"/>
            </a:srgbClr>
          </a:solidFill>
          <a:ln w="12700">
            <a:solidFill>
              <a:srgbClr val="EF4444"/>
            </a:solidFill>
            <a:prstDash val="solid"/>
          </a:ln>
        </p:spPr>
      </p:sp>
      <p:sp>
        <p:nvSpPr>
          <p:cNvPr id="49" name="Text 47"/>
          <p:cNvSpPr/>
          <p:nvPr/>
        </p:nvSpPr>
        <p:spPr>
          <a:xfrm>
            <a:off x="4434840" y="4325112"/>
            <a:ext cx="2148840" cy="43891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Docker + Kubernetes</a:t>
            </a:r>
            <a:endParaRPr lang="en-US" sz="1050" dirty="0"/>
          </a:p>
        </p:txBody>
      </p:sp>
      <p:sp>
        <p:nvSpPr>
          <p:cNvPr id="50" name="Shape 48"/>
          <p:cNvSpPr/>
          <p:nvPr/>
        </p:nvSpPr>
        <p:spPr>
          <a:xfrm>
            <a:off x="6766560" y="4325112"/>
            <a:ext cx="2148840" cy="438912"/>
          </a:xfrm>
          <a:prstGeom prst="roundRect">
            <a:avLst>
              <a:gd name="adj" fmla="val 16667"/>
            </a:avLst>
          </a:prstGeom>
          <a:solidFill>
            <a:srgbClr val="EF4444">
              <a:alpha val="88000"/>
            </a:srgbClr>
          </a:solidFill>
          <a:ln w="12700">
            <a:solidFill>
              <a:srgbClr val="EF4444"/>
            </a:solidFill>
            <a:prstDash val="solid"/>
          </a:ln>
        </p:spPr>
      </p:sp>
      <p:sp>
        <p:nvSpPr>
          <p:cNvPr id="51" name="Text 49"/>
          <p:cNvSpPr/>
          <p:nvPr/>
        </p:nvSpPr>
        <p:spPr>
          <a:xfrm>
            <a:off x="6766560" y="4325112"/>
            <a:ext cx="2148840" cy="43891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CI/CD Pipeline</a:t>
            </a:r>
            <a:endParaRPr lang="en-US" sz="1050" dirty="0"/>
          </a:p>
        </p:txBody>
      </p:sp>
      <p:sp>
        <p:nvSpPr>
          <p:cNvPr id="52" name="Shape 50"/>
          <p:cNvSpPr/>
          <p:nvPr/>
        </p:nvSpPr>
        <p:spPr>
          <a:xfrm>
            <a:off x="274320" y="4572000"/>
            <a:ext cx="8595360" cy="347472"/>
          </a:xfrm>
          <a:prstGeom prst="roundRect">
            <a:avLst>
              <a:gd name="adj" fmla="val 15789"/>
            </a:avLst>
          </a:prstGeom>
          <a:solidFill>
            <a:srgbClr val="F0FDF4"/>
          </a:solidFill>
          <a:ln w="12700">
            <a:solidFill>
              <a:srgbClr val="86EFAC"/>
            </a:solidFill>
            <a:prstDash val="solid"/>
          </a:ln>
        </p:spPr>
      </p:sp>
      <p:sp>
        <p:nvSpPr>
          <p:cNvPr id="53" name="Text 51"/>
          <p:cNvSpPr/>
          <p:nvPr/>
        </p:nvSpPr>
        <p:spPr>
          <a:xfrm>
            <a:off x="274320" y="4572000"/>
            <a:ext cx="8595360" cy="347472"/>
          </a:xfrm>
          <a:prstGeom prst="rect">
            <a:avLst/>
          </a:prstGeom>
          <a:noFill/>
          <a:ln/>
        </p:spPr>
        <p:txBody>
          <a:bodyPr wrap="square" lIns="0" tIns="0" rIns="0" bIns="0" rtlCol="0" anchor="ctr"/>
          <a:lstStyle/>
          <a:p>
            <a:pPr algn="ctr" indent="0" marL="0">
              <a:buNone/>
            </a:pPr>
            <a:r>
              <a:rPr lang="en-US" sz="1000" dirty="0">
                <a:solidFill>
                  <a:srgbClr val="166534"/>
                </a:solidFill>
              </a:rPr>
              <a:t>✓  Microservices Architecture  ·  ✓  OWASP Compliant  ·  ✓  RBI Data Localization Ready  ·  ✓  99.9% SLA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2D6E"/>
          </a:solidFill>
          <a:ln w="12700">
            <a:solidFill>
              <a:srgbClr val="0A2D6E"/>
            </a:solidFill>
            <a:prstDash val="solid"/>
          </a:ln>
        </p:spPr>
      </p:sp>
      <p:sp>
        <p:nvSpPr>
          <p:cNvPr id="3" name="Text 1"/>
          <p:cNvSpPr/>
          <p:nvPr/>
        </p:nvSpPr>
        <p:spPr>
          <a:xfrm>
            <a:off x="365760" y="0"/>
            <a:ext cx="6400800" cy="384048"/>
          </a:xfrm>
          <a:prstGeom prst="rect">
            <a:avLst/>
          </a:prstGeom>
          <a:noFill/>
          <a:ln/>
        </p:spPr>
        <p:txBody>
          <a:bodyPr wrap="square" rtlCol="0" anchor="b"/>
          <a:lstStyle/>
          <a:p>
            <a:pPr indent="0" marL="0">
              <a:buNone/>
            </a:pPr>
            <a:r>
              <a:rPr lang="en-US" sz="1100" b="1" spc="300" kern="0" dirty="0">
                <a:solidFill>
                  <a:srgbClr val="9DB8DC"/>
                </a:solidFill>
                <a:latin typeface="Calibri" pitchFamily="34" charset="0"/>
                <a:ea typeface="Calibri" pitchFamily="34" charset="-122"/>
                <a:cs typeface="Calibri" pitchFamily="34" charset="-120"/>
              </a:rPr>
              <a:t>FUTURE ROADMAP</a:t>
            </a:r>
            <a:endParaRPr lang="en-US" sz="1100" dirty="0"/>
          </a:p>
        </p:txBody>
      </p:sp>
      <p:sp>
        <p:nvSpPr>
          <p:cNvPr id="4" name="Text 2"/>
          <p:cNvSpPr/>
          <p:nvPr/>
        </p:nvSpPr>
        <p:spPr>
          <a:xfrm>
            <a:off x="365760" y="384048"/>
            <a:ext cx="73152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From MVP to Market Leadership</a:t>
            </a:r>
            <a:endParaRPr lang="en-US" sz="2600" dirty="0"/>
          </a:p>
        </p:txBody>
      </p:sp>
      <p:sp>
        <p:nvSpPr>
          <p:cNvPr id="5" name="Shape 3"/>
          <p:cNvSpPr/>
          <p:nvPr/>
        </p:nvSpPr>
        <p:spPr>
          <a:xfrm>
            <a:off x="777240" y="1755648"/>
            <a:ext cx="7589520" cy="0"/>
          </a:xfrm>
          <a:prstGeom prst="line">
            <a:avLst/>
          </a:prstGeom>
          <a:noFill/>
          <a:ln w="25400">
            <a:solidFill>
              <a:srgbClr val="E2E8F0"/>
            </a:solidFill>
            <a:prstDash val="solid"/>
          </a:ln>
        </p:spPr>
      </p:sp>
      <p:sp>
        <p:nvSpPr>
          <p:cNvPr id="6" name="Shape 4"/>
          <p:cNvSpPr/>
          <p:nvPr/>
        </p:nvSpPr>
        <p:spPr>
          <a:xfrm>
            <a:off x="1097280" y="1572768"/>
            <a:ext cx="365760" cy="365760"/>
          </a:xfrm>
          <a:prstGeom prst="ellipse">
            <a:avLst/>
          </a:prstGeom>
          <a:solidFill>
            <a:srgbClr val="1A56BB"/>
          </a:solidFill>
          <a:ln w="12700">
            <a:solidFill>
              <a:srgbClr val="1A56BB"/>
            </a:solidFill>
            <a:prstDash val="solid"/>
          </a:ln>
        </p:spPr>
      </p:sp>
      <p:sp>
        <p:nvSpPr>
          <p:cNvPr id="7" name="Shape 5"/>
          <p:cNvSpPr/>
          <p:nvPr/>
        </p:nvSpPr>
        <p:spPr>
          <a:xfrm>
            <a:off x="1280160" y="1938528"/>
            <a:ext cx="0" cy="228600"/>
          </a:xfrm>
          <a:prstGeom prst="line">
            <a:avLst/>
          </a:prstGeom>
          <a:noFill/>
          <a:ln w="19050">
            <a:solidFill>
              <a:srgbClr val="1A56BB"/>
            </a:solidFill>
            <a:prstDash val="solid"/>
          </a:ln>
        </p:spPr>
      </p:sp>
      <p:sp>
        <p:nvSpPr>
          <p:cNvPr id="8" name="Shape 6"/>
          <p:cNvSpPr/>
          <p:nvPr/>
        </p:nvSpPr>
        <p:spPr>
          <a:xfrm>
            <a:off x="274320" y="2167128"/>
            <a:ext cx="2057400" cy="2697480"/>
          </a:xfrm>
          <a:prstGeom prst="roundRect">
            <a:avLst>
              <a:gd name="adj" fmla="val 444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274320" y="2167128"/>
            <a:ext cx="2057400" cy="594360"/>
          </a:xfrm>
          <a:prstGeom prst="roundRect">
            <a:avLst>
              <a:gd name="adj" fmla="val 15385"/>
            </a:avLst>
          </a:prstGeom>
          <a:solidFill>
            <a:srgbClr val="1A56BB"/>
          </a:solidFill>
          <a:ln w="12700">
            <a:solidFill>
              <a:srgbClr val="1A56BB"/>
            </a:solidFill>
            <a:prstDash val="solid"/>
          </a:ln>
        </p:spPr>
      </p:sp>
      <p:sp>
        <p:nvSpPr>
          <p:cNvPr id="10" name="Text 8"/>
          <p:cNvSpPr/>
          <p:nvPr/>
        </p:nvSpPr>
        <p:spPr>
          <a:xfrm>
            <a:off x="274320" y="2167128"/>
            <a:ext cx="2057400" cy="292608"/>
          </a:xfrm>
          <a:prstGeom prst="rect">
            <a:avLst/>
          </a:prstGeom>
          <a:noFill/>
          <a:ln/>
        </p:spPr>
        <p:txBody>
          <a:bodyPr wrap="square" lIns="0" tIns="0" rIns="0" bIns="0" rtlCol="0" anchor="b"/>
          <a:lstStyle/>
          <a:p>
            <a:pPr algn="ctr" indent="0" marL="0">
              <a:buNone/>
            </a:pPr>
            <a:r>
              <a:rPr lang="en-US" sz="1200" b="1" dirty="0">
                <a:solidFill>
                  <a:srgbClr val="FFFFFF"/>
                </a:solidFill>
                <a:latin typeface="Cambria" pitchFamily="34" charset="0"/>
                <a:ea typeface="Cambria" pitchFamily="34" charset="-122"/>
                <a:cs typeface="Cambria" pitchFamily="34" charset="-120"/>
              </a:rPr>
              <a:t>Phase 1</a:t>
            </a:r>
            <a:endParaRPr lang="en-US" sz="1200" dirty="0"/>
          </a:p>
        </p:txBody>
      </p:sp>
      <p:sp>
        <p:nvSpPr>
          <p:cNvPr id="11" name="Text 9"/>
          <p:cNvSpPr/>
          <p:nvPr/>
        </p:nvSpPr>
        <p:spPr>
          <a:xfrm>
            <a:off x="274320" y="2441448"/>
            <a:ext cx="2057400" cy="274320"/>
          </a:xfrm>
          <a:prstGeom prst="rect">
            <a:avLst/>
          </a:prstGeom>
          <a:noFill/>
          <a:ln/>
        </p:spPr>
        <p:txBody>
          <a:bodyPr wrap="square" lIns="0" tIns="0" rIns="0" bIns="0" rtlCol="0" anchor="t"/>
          <a:lstStyle/>
          <a:p>
            <a:pPr algn="ctr" indent="0" marL="0">
              <a:buNone/>
            </a:pPr>
            <a:r>
              <a:rPr lang="en-US" sz="950" dirty="0">
                <a:solidFill>
                  <a:srgbClr val="BFDBFE"/>
                </a:solidFill>
              </a:rPr>
              <a:t>Q3 2026</a:t>
            </a:r>
            <a:endParaRPr lang="en-US" sz="950" dirty="0"/>
          </a:p>
        </p:txBody>
      </p:sp>
      <p:sp>
        <p:nvSpPr>
          <p:cNvPr id="12" name="Text 10"/>
          <p:cNvSpPr/>
          <p:nvPr/>
        </p:nvSpPr>
        <p:spPr>
          <a:xfrm>
            <a:off x="384048" y="28529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Core MVP Launch</a:t>
            </a:r>
            <a:endParaRPr lang="en-US" sz="950" dirty="0"/>
          </a:p>
        </p:txBody>
      </p:sp>
      <p:sp>
        <p:nvSpPr>
          <p:cNvPr id="13" name="Text 11"/>
          <p:cNvSpPr/>
          <p:nvPr/>
        </p:nvSpPr>
        <p:spPr>
          <a:xfrm>
            <a:off x="384048" y="33101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5 AI Agents deployed</a:t>
            </a:r>
            <a:endParaRPr lang="en-US" sz="950" dirty="0"/>
          </a:p>
        </p:txBody>
      </p:sp>
      <p:sp>
        <p:nvSpPr>
          <p:cNvPr id="14" name="Text 12"/>
          <p:cNvSpPr/>
          <p:nvPr/>
        </p:nvSpPr>
        <p:spPr>
          <a:xfrm>
            <a:off x="384048" y="37673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UPI &amp; mobile banking adoption</a:t>
            </a:r>
            <a:endParaRPr lang="en-US" sz="950" dirty="0"/>
          </a:p>
        </p:txBody>
      </p:sp>
      <p:sp>
        <p:nvSpPr>
          <p:cNvPr id="15" name="Text 13"/>
          <p:cNvSpPr/>
          <p:nvPr/>
        </p:nvSpPr>
        <p:spPr>
          <a:xfrm>
            <a:off x="384048" y="42245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Digital Adoption Score v1</a:t>
            </a:r>
            <a:endParaRPr lang="en-US" sz="950" dirty="0"/>
          </a:p>
        </p:txBody>
      </p:sp>
      <p:sp>
        <p:nvSpPr>
          <p:cNvPr id="16" name="Shape 14"/>
          <p:cNvSpPr/>
          <p:nvPr/>
        </p:nvSpPr>
        <p:spPr>
          <a:xfrm>
            <a:off x="3291840" y="1572768"/>
            <a:ext cx="365760" cy="365760"/>
          </a:xfrm>
          <a:prstGeom prst="ellipse">
            <a:avLst/>
          </a:prstGeom>
          <a:solidFill>
            <a:srgbClr val="0D9488"/>
          </a:solidFill>
          <a:ln w="12700">
            <a:solidFill>
              <a:srgbClr val="0D9488"/>
            </a:solidFill>
            <a:prstDash val="solid"/>
          </a:ln>
        </p:spPr>
      </p:sp>
      <p:sp>
        <p:nvSpPr>
          <p:cNvPr id="17" name="Shape 15"/>
          <p:cNvSpPr/>
          <p:nvPr/>
        </p:nvSpPr>
        <p:spPr>
          <a:xfrm>
            <a:off x="3474720" y="1938528"/>
            <a:ext cx="0" cy="228600"/>
          </a:xfrm>
          <a:prstGeom prst="line">
            <a:avLst/>
          </a:prstGeom>
          <a:noFill/>
          <a:ln w="19050">
            <a:solidFill>
              <a:srgbClr val="0D9488"/>
            </a:solidFill>
            <a:prstDash val="solid"/>
          </a:ln>
        </p:spPr>
      </p:sp>
      <p:sp>
        <p:nvSpPr>
          <p:cNvPr id="18" name="Shape 16"/>
          <p:cNvSpPr/>
          <p:nvPr/>
        </p:nvSpPr>
        <p:spPr>
          <a:xfrm>
            <a:off x="2468880" y="2167128"/>
            <a:ext cx="2057400" cy="2697480"/>
          </a:xfrm>
          <a:prstGeom prst="roundRect">
            <a:avLst>
              <a:gd name="adj" fmla="val 444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2468880" y="2167128"/>
            <a:ext cx="2057400" cy="594360"/>
          </a:xfrm>
          <a:prstGeom prst="roundRect">
            <a:avLst>
              <a:gd name="adj" fmla="val 15385"/>
            </a:avLst>
          </a:prstGeom>
          <a:solidFill>
            <a:srgbClr val="0D9488"/>
          </a:solidFill>
          <a:ln w="12700">
            <a:solidFill>
              <a:srgbClr val="0D9488"/>
            </a:solidFill>
            <a:prstDash val="solid"/>
          </a:ln>
        </p:spPr>
      </p:sp>
      <p:sp>
        <p:nvSpPr>
          <p:cNvPr id="20" name="Text 18"/>
          <p:cNvSpPr/>
          <p:nvPr/>
        </p:nvSpPr>
        <p:spPr>
          <a:xfrm>
            <a:off x="2468880" y="2167128"/>
            <a:ext cx="2057400" cy="292608"/>
          </a:xfrm>
          <a:prstGeom prst="rect">
            <a:avLst/>
          </a:prstGeom>
          <a:noFill/>
          <a:ln/>
        </p:spPr>
        <p:txBody>
          <a:bodyPr wrap="square" lIns="0" tIns="0" rIns="0" bIns="0" rtlCol="0" anchor="b"/>
          <a:lstStyle/>
          <a:p>
            <a:pPr algn="ctr" indent="0" marL="0">
              <a:buNone/>
            </a:pPr>
            <a:r>
              <a:rPr lang="en-US" sz="1200" b="1" dirty="0">
                <a:solidFill>
                  <a:srgbClr val="FFFFFF"/>
                </a:solidFill>
                <a:latin typeface="Cambria" pitchFamily="34" charset="0"/>
                <a:ea typeface="Cambria" pitchFamily="34" charset="-122"/>
                <a:cs typeface="Cambria" pitchFamily="34" charset="-120"/>
              </a:rPr>
              <a:t>Phase 2</a:t>
            </a:r>
            <a:endParaRPr lang="en-US" sz="1200" dirty="0"/>
          </a:p>
        </p:txBody>
      </p:sp>
      <p:sp>
        <p:nvSpPr>
          <p:cNvPr id="21" name="Text 19"/>
          <p:cNvSpPr/>
          <p:nvPr/>
        </p:nvSpPr>
        <p:spPr>
          <a:xfrm>
            <a:off x="2468880" y="2441448"/>
            <a:ext cx="2057400" cy="274320"/>
          </a:xfrm>
          <a:prstGeom prst="rect">
            <a:avLst/>
          </a:prstGeom>
          <a:noFill/>
          <a:ln/>
        </p:spPr>
        <p:txBody>
          <a:bodyPr wrap="square" lIns="0" tIns="0" rIns="0" bIns="0" rtlCol="0" anchor="t"/>
          <a:lstStyle/>
          <a:p>
            <a:pPr algn="ctr" indent="0" marL="0">
              <a:buNone/>
            </a:pPr>
            <a:r>
              <a:rPr lang="en-US" sz="950" dirty="0">
                <a:solidFill>
                  <a:srgbClr val="BFDBFE"/>
                </a:solidFill>
              </a:rPr>
              <a:t>Q1 2027</a:t>
            </a:r>
            <a:endParaRPr lang="en-US" sz="950" dirty="0"/>
          </a:p>
        </p:txBody>
      </p:sp>
      <p:sp>
        <p:nvSpPr>
          <p:cNvPr id="22" name="Text 20"/>
          <p:cNvSpPr/>
          <p:nvPr/>
        </p:nvSpPr>
        <p:spPr>
          <a:xfrm>
            <a:off x="2578608" y="28529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Voice Banking AI</a:t>
            </a:r>
            <a:endParaRPr lang="en-US" sz="950" dirty="0"/>
          </a:p>
        </p:txBody>
      </p:sp>
      <p:sp>
        <p:nvSpPr>
          <p:cNvPr id="23" name="Text 21"/>
          <p:cNvSpPr/>
          <p:nvPr/>
        </p:nvSpPr>
        <p:spPr>
          <a:xfrm>
            <a:off x="2578608" y="33101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22-language expansion</a:t>
            </a:r>
            <a:endParaRPr lang="en-US" sz="950" dirty="0"/>
          </a:p>
        </p:txBody>
      </p:sp>
      <p:sp>
        <p:nvSpPr>
          <p:cNvPr id="24" name="Text 22"/>
          <p:cNvSpPr/>
          <p:nvPr/>
        </p:nvSpPr>
        <p:spPr>
          <a:xfrm>
            <a:off x="2578608" y="37673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Hyper-personalized financial planning</a:t>
            </a:r>
            <a:endParaRPr lang="en-US" sz="950" dirty="0"/>
          </a:p>
        </p:txBody>
      </p:sp>
      <p:sp>
        <p:nvSpPr>
          <p:cNvPr id="25" name="Text 23"/>
          <p:cNvSpPr/>
          <p:nvPr/>
        </p:nvSpPr>
        <p:spPr>
          <a:xfrm>
            <a:off x="2578608" y="42245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Behavioral ML v2</a:t>
            </a:r>
            <a:endParaRPr lang="en-US" sz="950" dirty="0"/>
          </a:p>
        </p:txBody>
      </p:sp>
      <p:sp>
        <p:nvSpPr>
          <p:cNvPr id="26" name="Shape 24"/>
          <p:cNvSpPr/>
          <p:nvPr/>
        </p:nvSpPr>
        <p:spPr>
          <a:xfrm>
            <a:off x="5486400" y="1572768"/>
            <a:ext cx="365760" cy="365760"/>
          </a:xfrm>
          <a:prstGeom prst="ellipse">
            <a:avLst/>
          </a:prstGeom>
          <a:solidFill>
            <a:srgbClr val="8B5CF6"/>
          </a:solidFill>
          <a:ln w="12700">
            <a:solidFill>
              <a:srgbClr val="8B5CF6"/>
            </a:solidFill>
            <a:prstDash val="solid"/>
          </a:ln>
        </p:spPr>
      </p:sp>
      <p:sp>
        <p:nvSpPr>
          <p:cNvPr id="27" name="Shape 25"/>
          <p:cNvSpPr/>
          <p:nvPr/>
        </p:nvSpPr>
        <p:spPr>
          <a:xfrm>
            <a:off x="5669280" y="1938528"/>
            <a:ext cx="0" cy="228600"/>
          </a:xfrm>
          <a:prstGeom prst="line">
            <a:avLst/>
          </a:prstGeom>
          <a:noFill/>
          <a:ln w="19050">
            <a:solidFill>
              <a:srgbClr val="8B5CF6"/>
            </a:solidFill>
            <a:prstDash val="solid"/>
          </a:ln>
        </p:spPr>
      </p:sp>
      <p:sp>
        <p:nvSpPr>
          <p:cNvPr id="28" name="Shape 26"/>
          <p:cNvSpPr/>
          <p:nvPr/>
        </p:nvSpPr>
        <p:spPr>
          <a:xfrm>
            <a:off x="4663440" y="2167128"/>
            <a:ext cx="2057400" cy="2697480"/>
          </a:xfrm>
          <a:prstGeom prst="roundRect">
            <a:avLst>
              <a:gd name="adj" fmla="val 444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Shape 27"/>
          <p:cNvSpPr/>
          <p:nvPr/>
        </p:nvSpPr>
        <p:spPr>
          <a:xfrm>
            <a:off x="4663440" y="2167128"/>
            <a:ext cx="2057400" cy="594360"/>
          </a:xfrm>
          <a:prstGeom prst="roundRect">
            <a:avLst>
              <a:gd name="adj" fmla="val 15385"/>
            </a:avLst>
          </a:prstGeom>
          <a:solidFill>
            <a:srgbClr val="8B5CF6"/>
          </a:solidFill>
          <a:ln w="12700">
            <a:solidFill>
              <a:srgbClr val="8B5CF6"/>
            </a:solidFill>
            <a:prstDash val="solid"/>
          </a:ln>
        </p:spPr>
      </p:sp>
      <p:sp>
        <p:nvSpPr>
          <p:cNvPr id="30" name="Text 28"/>
          <p:cNvSpPr/>
          <p:nvPr/>
        </p:nvSpPr>
        <p:spPr>
          <a:xfrm>
            <a:off x="4663440" y="2167128"/>
            <a:ext cx="2057400" cy="292608"/>
          </a:xfrm>
          <a:prstGeom prst="rect">
            <a:avLst/>
          </a:prstGeom>
          <a:noFill/>
          <a:ln/>
        </p:spPr>
        <p:txBody>
          <a:bodyPr wrap="square" lIns="0" tIns="0" rIns="0" bIns="0" rtlCol="0" anchor="b"/>
          <a:lstStyle/>
          <a:p>
            <a:pPr algn="ctr" indent="0" marL="0">
              <a:buNone/>
            </a:pPr>
            <a:r>
              <a:rPr lang="en-US" sz="1200" b="1" dirty="0">
                <a:solidFill>
                  <a:srgbClr val="FFFFFF"/>
                </a:solidFill>
                <a:latin typeface="Cambria" pitchFamily="34" charset="0"/>
                <a:ea typeface="Cambria" pitchFamily="34" charset="-122"/>
                <a:cs typeface="Cambria" pitchFamily="34" charset="-120"/>
              </a:rPr>
              <a:t>Phase 3</a:t>
            </a:r>
            <a:endParaRPr lang="en-US" sz="1200" dirty="0"/>
          </a:p>
        </p:txBody>
      </p:sp>
      <p:sp>
        <p:nvSpPr>
          <p:cNvPr id="31" name="Text 29"/>
          <p:cNvSpPr/>
          <p:nvPr/>
        </p:nvSpPr>
        <p:spPr>
          <a:xfrm>
            <a:off x="4663440" y="2441448"/>
            <a:ext cx="2057400" cy="274320"/>
          </a:xfrm>
          <a:prstGeom prst="rect">
            <a:avLst/>
          </a:prstGeom>
          <a:noFill/>
          <a:ln/>
        </p:spPr>
        <p:txBody>
          <a:bodyPr wrap="square" lIns="0" tIns="0" rIns="0" bIns="0" rtlCol="0" anchor="t"/>
          <a:lstStyle/>
          <a:p>
            <a:pPr algn="ctr" indent="0" marL="0">
              <a:buNone/>
            </a:pPr>
            <a:r>
              <a:rPr lang="en-US" sz="950" dirty="0">
                <a:solidFill>
                  <a:srgbClr val="BFDBFE"/>
                </a:solidFill>
              </a:rPr>
              <a:t>Q3 2027</a:t>
            </a:r>
            <a:endParaRPr lang="en-US" sz="950" dirty="0"/>
          </a:p>
        </p:txBody>
      </p:sp>
      <p:sp>
        <p:nvSpPr>
          <p:cNvPr id="32" name="Text 30"/>
          <p:cNvSpPr/>
          <p:nvPr/>
        </p:nvSpPr>
        <p:spPr>
          <a:xfrm>
            <a:off x="4773168" y="28529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AI-driven Loan Recommendations</a:t>
            </a:r>
            <a:endParaRPr lang="en-US" sz="950" dirty="0"/>
          </a:p>
        </p:txBody>
      </p:sp>
      <p:sp>
        <p:nvSpPr>
          <p:cNvPr id="33" name="Text 31"/>
          <p:cNvSpPr/>
          <p:nvPr/>
        </p:nvSpPr>
        <p:spPr>
          <a:xfrm>
            <a:off x="4773168" y="33101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Credit scoring integration</a:t>
            </a:r>
            <a:endParaRPr lang="en-US" sz="950" dirty="0"/>
          </a:p>
        </p:txBody>
      </p:sp>
      <p:sp>
        <p:nvSpPr>
          <p:cNvPr id="34" name="Text 32"/>
          <p:cNvSpPr/>
          <p:nvPr/>
        </p:nvSpPr>
        <p:spPr>
          <a:xfrm>
            <a:off x="4773168" y="37673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Cross-sell &amp; Upsell Engine</a:t>
            </a:r>
            <a:endParaRPr lang="en-US" sz="950" dirty="0"/>
          </a:p>
        </p:txBody>
      </p:sp>
      <p:sp>
        <p:nvSpPr>
          <p:cNvPr id="35" name="Text 33"/>
          <p:cNvSpPr/>
          <p:nvPr/>
        </p:nvSpPr>
        <p:spPr>
          <a:xfrm>
            <a:off x="4773168" y="42245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10M+ customer rollout</a:t>
            </a:r>
            <a:endParaRPr lang="en-US" sz="950" dirty="0"/>
          </a:p>
        </p:txBody>
      </p:sp>
      <p:sp>
        <p:nvSpPr>
          <p:cNvPr id="36" name="Shape 34"/>
          <p:cNvSpPr/>
          <p:nvPr/>
        </p:nvSpPr>
        <p:spPr>
          <a:xfrm>
            <a:off x="7680960" y="1572768"/>
            <a:ext cx="365760" cy="365760"/>
          </a:xfrm>
          <a:prstGeom prst="ellipse">
            <a:avLst/>
          </a:prstGeom>
          <a:solidFill>
            <a:srgbClr val="F59E0B"/>
          </a:solidFill>
          <a:ln w="12700">
            <a:solidFill>
              <a:srgbClr val="F59E0B"/>
            </a:solidFill>
            <a:prstDash val="solid"/>
          </a:ln>
        </p:spPr>
      </p:sp>
      <p:sp>
        <p:nvSpPr>
          <p:cNvPr id="37" name="Shape 35"/>
          <p:cNvSpPr/>
          <p:nvPr/>
        </p:nvSpPr>
        <p:spPr>
          <a:xfrm>
            <a:off x="7863840" y="1938528"/>
            <a:ext cx="0" cy="228600"/>
          </a:xfrm>
          <a:prstGeom prst="line">
            <a:avLst/>
          </a:prstGeom>
          <a:noFill/>
          <a:ln w="19050">
            <a:solidFill>
              <a:srgbClr val="F59E0B"/>
            </a:solidFill>
            <a:prstDash val="solid"/>
          </a:ln>
        </p:spPr>
      </p:sp>
      <p:sp>
        <p:nvSpPr>
          <p:cNvPr id="38" name="Shape 36"/>
          <p:cNvSpPr/>
          <p:nvPr/>
        </p:nvSpPr>
        <p:spPr>
          <a:xfrm>
            <a:off x="6858000" y="2167128"/>
            <a:ext cx="2057400" cy="2697480"/>
          </a:xfrm>
          <a:prstGeom prst="roundRect">
            <a:avLst>
              <a:gd name="adj" fmla="val 444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9" name="Shape 37"/>
          <p:cNvSpPr/>
          <p:nvPr/>
        </p:nvSpPr>
        <p:spPr>
          <a:xfrm>
            <a:off x="6858000" y="2167128"/>
            <a:ext cx="2057400" cy="594360"/>
          </a:xfrm>
          <a:prstGeom prst="roundRect">
            <a:avLst>
              <a:gd name="adj" fmla="val 15385"/>
            </a:avLst>
          </a:prstGeom>
          <a:solidFill>
            <a:srgbClr val="F59E0B"/>
          </a:solidFill>
          <a:ln w="12700">
            <a:solidFill>
              <a:srgbClr val="F59E0B"/>
            </a:solidFill>
            <a:prstDash val="solid"/>
          </a:ln>
        </p:spPr>
      </p:sp>
      <p:sp>
        <p:nvSpPr>
          <p:cNvPr id="40" name="Text 38"/>
          <p:cNvSpPr/>
          <p:nvPr/>
        </p:nvSpPr>
        <p:spPr>
          <a:xfrm>
            <a:off x="6858000" y="2167128"/>
            <a:ext cx="2057400" cy="292608"/>
          </a:xfrm>
          <a:prstGeom prst="rect">
            <a:avLst/>
          </a:prstGeom>
          <a:noFill/>
          <a:ln/>
        </p:spPr>
        <p:txBody>
          <a:bodyPr wrap="square" lIns="0" tIns="0" rIns="0" bIns="0" rtlCol="0" anchor="b"/>
          <a:lstStyle/>
          <a:p>
            <a:pPr algn="ctr" indent="0" marL="0">
              <a:buNone/>
            </a:pPr>
            <a:r>
              <a:rPr lang="en-US" sz="1200" b="1" dirty="0">
                <a:solidFill>
                  <a:srgbClr val="FFFFFF"/>
                </a:solidFill>
                <a:latin typeface="Cambria" pitchFamily="34" charset="0"/>
                <a:ea typeface="Cambria" pitchFamily="34" charset="-122"/>
                <a:cs typeface="Cambria" pitchFamily="34" charset="-120"/>
              </a:rPr>
              <a:t>Phase 4</a:t>
            </a:r>
            <a:endParaRPr lang="en-US" sz="1200" dirty="0"/>
          </a:p>
        </p:txBody>
      </p:sp>
      <p:sp>
        <p:nvSpPr>
          <p:cNvPr id="41" name="Text 39"/>
          <p:cNvSpPr/>
          <p:nvPr/>
        </p:nvSpPr>
        <p:spPr>
          <a:xfrm>
            <a:off x="6858000" y="2441448"/>
            <a:ext cx="2057400" cy="274320"/>
          </a:xfrm>
          <a:prstGeom prst="rect">
            <a:avLst/>
          </a:prstGeom>
          <a:noFill/>
          <a:ln/>
        </p:spPr>
        <p:txBody>
          <a:bodyPr wrap="square" lIns="0" tIns="0" rIns="0" bIns="0" rtlCol="0" anchor="t"/>
          <a:lstStyle/>
          <a:p>
            <a:pPr algn="ctr" indent="0" marL="0">
              <a:buNone/>
            </a:pPr>
            <a:r>
              <a:rPr lang="en-US" sz="950" dirty="0">
                <a:solidFill>
                  <a:srgbClr val="BFDBFE"/>
                </a:solidFill>
              </a:rPr>
              <a:t>2028+</a:t>
            </a:r>
            <a:endParaRPr lang="en-US" sz="950" dirty="0"/>
          </a:p>
        </p:txBody>
      </p:sp>
      <p:sp>
        <p:nvSpPr>
          <p:cNvPr id="42" name="Text 40"/>
          <p:cNvSpPr/>
          <p:nvPr/>
        </p:nvSpPr>
        <p:spPr>
          <a:xfrm>
            <a:off x="6967728" y="28529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WhatsApp &amp; Bharat AI integration</a:t>
            </a:r>
            <a:endParaRPr lang="en-US" sz="950" dirty="0"/>
          </a:p>
        </p:txBody>
      </p:sp>
      <p:sp>
        <p:nvSpPr>
          <p:cNvPr id="43" name="Text 41"/>
          <p:cNvSpPr/>
          <p:nvPr/>
        </p:nvSpPr>
        <p:spPr>
          <a:xfrm>
            <a:off x="6967728" y="33101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Open banking API layer</a:t>
            </a:r>
            <a:endParaRPr lang="en-US" sz="950" dirty="0"/>
          </a:p>
        </p:txBody>
      </p:sp>
      <p:sp>
        <p:nvSpPr>
          <p:cNvPr id="44" name="Text 42"/>
          <p:cNvSpPr/>
          <p:nvPr/>
        </p:nvSpPr>
        <p:spPr>
          <a:xfrm>
            <a:off x="6967728" y="37673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Ecosystem partnerships</a:t>
            </a:r>
            <a:endParaRPr lang="en-US" sz="950" dirty="0"/>
          </a:p>
        </p:txBody>
      </p:sp>
      <p:sp>
        <p:nvSpPr>
          <p:cNvPr id="45" name="Text 43"/>
          <p:cNvSpPr/>
          <p:nvPr/>
        </p:nvSpPr>
        <p:spPr>
          <a:xfrm>
            <a:off x="6967728" y="4224528"/>
            <a:ext cx="1828800" cy="411480"/>
          </a:xfrm>
          <a:prstGeom prst="rect">
            <a:avLst/>
          </a:prstGeom>
          <a:noFill/>
          <a:ln/>
        </p:spPr>
        <p:txBody>
          <a:bodyPr wrap="square"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Pan-India Digital Banking Leader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D6E"/>
        </a:solidFill>
      </p:bgPr>
    </p:bg>
    <p:spTree>
      <p:nvGrpSpPr>
        <p:cNvPr id="1" name=""/>
        <p:cNvGrpSpPr/>
        <p:nvPr/>
      </p:nvGrpSpPr>
      <p:grpSpPr>
        <a:xfrm>
          <a:off x="0" y="0"/>
          <a:ext cx="0" cy="0"/>
          <a:chOff x="0" y="0"/>
          <a:chExt cx="0" cy="0"/>
        </a:xfrm>
      </p:grpSpPr>
      <p:sp>
        <p:nvSpPr>
          <p:cNvPr id="2" name="Shape 0"/>
          <p:cNvSpPr/>
          <p:nvPr/>
        </p:nvSpPr>
        <p:spPr>
          <a:xfrm>
            <a:off x="5943600" y="-1828800"/>
            <a:ext cx="5486400" cy="5486400"/>
          </a:xfrm>
          <a:prstGeom prst="ellipse">
            <a:avLst/>
          </a:prstGeom>
          <a:solidFill>
            <a:srgbClr val="1A56BB">
              <a:alpha val="20000"/>
            </a:srgbClr>
          </a:solidFill>
          <a:ln w="12700">
            <a:solidFill>
              <a:srgbClr val="1A56BB">
                <a:alpha val="20000"/>
              </a:srgbClr>
            </a:solidFill>
            <a:prstDash val="solid"/>
          </a:ln>
        </p:spPr>
      </p:sp>
      <p:sp>
        <p:nvSpPr>
          <p:cNvPr id="3" name="Shape 1"/>
          <p:cNvSpPr/>
          <p:nvPr/>
        </p:nvSpPr>
        <p:spPr>
          <a:xfrm>
            <a:off x="-1828800" y="3200400"/>
            <a:ext cx="4572000" cy="4572000"/>
          </a:xfrm>
          <a:prstGeom prst="ellipse">
            <a:avLst/>
          </a:prstGeom>
          <a:solidFill>
            <a:srgbClr val="3B82F6">
              <a:alpha val="15000"/>
            </a:srgbClr>
          </a:solidFill>
          <a:ln w="12700">
            <a:solidFill>
              <a:srgbClr val="3B82F6">
                <a:alpha val="15000"/>
              </a:srgbClr>
            </a:solidFill>
            <a:prstDash val="solid"/>
          </a:ln>
        </p:spPr>
      </p:sp>
      <p:sp>
        <p:nvSpPr>
          <p:cNvPr id="4" name="Text 2"/>
          <p:cNvSpPr/>
          <p:nvPr/>
        </p:nvSpPr>
        <p:spPr>
          <a:xfrm>
            <a:off x="548640" y="457200"/>
            <a:ext cx="7772400" cy="457200"/>
          </a:xfrm>
          <a:prstGeom prst="rect">
            <a:avLst/>
          </a:prstGeom>
          <a:noFill/>
          <a:ln/>
        </p:spPr>
        <p:txBody>
          <a:bodyPr wrap="square"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Our Vision</a:t>
            </a:r>
            <a:endParaRPr lang="en-US" sz="1400" dirty="0"/>
          </a:p>
        </p:txBody>
      </p:sp>
      <p:sp>
        <p:nvSpPr>
          <p:cNvPr id="5" name="Text 3"/>
          <p:cNvSpPr/>
          <p:nvPr/>
        </p:nvSpPr>
        <p:spPr>
          <a:xfrm>
            <a:off x="548640" y="868680"/>
            <a:ext cx="8229600" cy="128016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Every SBI customer deserves a</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personal AI banking companion.</a:t>
            </a:r>
            <a:endParaRPr lang="en-US" sz="3600" dirty="0"/>
          </a:p>
        </p:txBody>
      </p:sp>
      <p:sp>
        <p:nvSpPr>
          <p:cNvPr id="6" name="Shape 4"/>
          <p:cNvSpPr/>
          <p:nvPr/>
        </p:nvSpPr>
        <p:spPr>
          <a:xfrm>
            <a:off x="548640" y="2286000"/>
            <a:ext cx="8046720" cy="713232"/>
          </a:xfrm>
          <a:prstGeom prst="roundRect">
            <a:avLst>
              <a:gd name="adj" fmla="val 10256"/>
            </a:avLst>
          </a:prstGeom>
          <a:solidFill>
            <a:srgbClr val="1A56BB">
              <a:alpha val="65000"/>
            </a:srgbClr>
          </a:solidFill>
          <a:ln w="12700">
            <a:solidFill>
              <a:srgbClr val="5B9BD5"/>
            </a:solidFill>
            <a:prstDash val="solid"/>
          </a:ln>
        </p:spPr>
      </p:sp>
      <p:sp>
        <p:nvSpPr>
          <p:cNvPr id="7" name="Text 5"/>
          <p:cNvSpPr/>
          <p:nvPr/>
        </p:nvSpPr>
        <p:spPr>
          <a:xfrm>
            <a:off x="548640" y="2286000"/>
            <a:ext cx="8046720" cy="713232"/>
          </a:xfrm>
          <a:prstGeom prst="rect">
            <a:avLst/>
          </a:prstGeom>
          <a:noFill/>
          <a:ln/>
        </p:spPr>
        <p:txBody>
          <a:bodyPr wrap="square" lIns="101600" tIns="101600" rIns="101600" bIns="101600" rtlCol="0" anchor="ctr"/>
          <a:lstStyle/>
          <a:p>
            <a:pPr algn="ctr" indent="0" marL="0">
              <a:buNone/>
            </a:pPr>
            <a:r>
              <a:rPr lang="en-US" sz="1150" i="1" dirty="0">
                <a:solidFill>
                  <a:srgbClr val="BFDBFE"/>
                </a:solidFill>
                <a:latin typeface="Calibri" pitchFamily="34" charset="0"/>
                <a:ea typeface="Calibri" pitchFamily="34" charset="-122"/>
                <a:cs typeface="Calibri" pitchFamily="34" charset="-120"/>
              </a:rPr>
              <a:t>SBI SmartLife Agent will make SBI the most digitally intelligent bank in India — acquiring more customers, retaining them longer, and growing their financial wellbeing through the power of Agentic AI.</a:t>
            </a:r>
            <a:endParaRPr lang="en-US" sz="1150" dirty="0"/>
          </a:p>
        </p:txBody>
      </p:sp>
      <p:sp>
        <p:nvSpPr>
          <p:cNvPr id="8" name="Shape 6"/>
          <p:cNvSpPr/>
          <p:nvPr/>
        </p:nvSpPr>
        <p:spPr>
          <a:xfrm>
            <a:off x="594360" y="3182112"/>
            <a:ext cx="1920240" cy="685800"/>
          </a:xfrm>
          <a:prstGeom prst="roundRect">
            <a:avLst>
              <a:gd name="adj" fmla="val 10667"/>
            </a:avLst>
          </a:prstGeom>
          <a:solidFill>
            <a:srgbClr val="FFFFFF">
              <a:alpha val="12000"/>
            </a:srgbClr>
          </a:solidFill>
          <a:ln w="12700">
            <a:solidFill>
              <a:srgbClr val="5B9BD5"/>
            </a:solidFill>
            <a:prstDash val="solid"/>
          </a:ln>
        </p:spPr>
      </p:sp>
      <p:sp>
        <p:nvSpPr>
          <p:cNvPr id="9" name="Text 7"/>
          <p:cNvSpPr/>
          <p:nvPr/>
        </p:nvSpPr>
        <p:spPr>
          <a:xfrm>
            <a:off x="594360" y="3182112"/>
            <a:ext cx="1920240" cy="347472"/>
          </a:xfrm>
          <a:prstGeom prst="rect">
            <a:avLst/>
          </a:prstGeom>
          <a:noFill/>
          <a:ln/>
        </p:spPr>
        <p:txBody>
          <a:bodyPr wrap="square" rtlCol="0" anchor="ctr"/>
          <a:lstStyle/>
          <a:p>
            <a:pPr algn="ctr" indent="0" marL="0">
              <a:buNone/>
            </a:pPr>
            <a:r>
              <a:rPr lang="en-US" sz="2000" b="1" dirty="0">
                <a:solidFill>
                  <a:srgbClr val="F59E0B"/>
                </a:solidFill>
                <a:latin typeface="Cambria" pitchFamily="34" charset="0"/>
                <a:ea typeface="Cambria" pitchFamily="34" charset="-122"/>
                <a:cs typeface="Cambria" pitchFamily="34" charset="-120"/>
              </a:rPr>
              <a:t>35%↑</a:t>
            </a:r>
            <a:endParaRPr lang="en-US" sz="2000" dirty="0"/>
          </a:p>
        </p:txBody>
      </p:sp>
      <p:sp>
        <p:nvSpPr>
          <p:cNvPr id="10" name="Text 8"/>
          <p:cNvSpPr/>
          <p:nvPr/>
        </p:nvSpPr>
        <p:spPr>
          <a:xfrm>
            <a:off x="594360" y="3493008"/>
            <a:ext cx="1920240" cy="292608"/>
          </a:xfrm>
          <a:prstGeom prst="rect">
            <a:avLst/>
          </a:prstGeom>
          <a:noFill/>
          <a:ln/>
        </p:spPr>
        <p:txBody>
          <a:bodyPr wrap="square"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Acquisition</a:t>
            </a:r>
            <a:endParaRPr lang="en-US" sz="900" dirty="0"/>
          </a:p>
        </p:txBody>
      </p:sp>
      <p:sp>
        <p:nvSpPr>
          <p:cNvPr id="11" name="Shape 9"/>
          <p:cNvSpPr/>
          <p:nvPr/>
        </p:nvSpPr>
        <p:spPr>
          <a:xfrm>
            <a:off x="2651760" y="3182112"/>
            <a:ext cx="1920240" cy="685800"/>
          </a:xfrm>
          <a:prstGeom prst="roundRect">
            <a:avLst>
              <a:gd name="adj" fmla="val 10667"/>
            </a:avLst>
          </a:prstGeom>
          <a:solidFill>
            <a:srgbClr val="FFFFFF">
              <a:alpha val="12000"/>
            </a:srgbClr>
          </a:solidFill>
          <a:ln w="12700">
            <a:solidFill>
              <a:srgbClr val="5B9BD5"/>
            </a:solidFill>
            <a:prstDash val="solid"/>
          </a:ln>
        </p:spPr>
      </p:sp>
      <p:sp>
        <p:nvSpPr>
          <p:cNvPr id="12" name="Text 10"/>
          <p:cNvSpPr/>
          <p:nvPr/>
        </p:nvSpPr>
        <p:spPr>
          <a:xfrm>
            <a:off x="2651760" y="3182112"/>
            <a:ext cx="1920240" cy="347472"/>
          </a:xfrm>
          <a:prstGeom prst="rect">
            <a:avLst/>
          </a:prstGeom>
          <a:noFill/>
          <a:ln/>
        </p:spPr>
        <p:txBody>
          <a:bodyPr wrap="square" rtlCol="0" anchor="ctr"/>
          <a:lstStyle/>
          <a:p>
            <a:pPr algn="ctr" indent="0" marL="0">
              <a:buNone/>
            </a:pPr>
            <a:r>
              <a:rPr lang="en-US" sz="2000" b="1" dirty="0">
                <a:solidFill>
                  <a:srgbClr val="F59E0B"/>
                </a:solidFill>
                <a:latin typeface="Cambria" pitchFamily="34" charset="0"/>
                <a:ea typeface="Cambria" pitchFamily="34" charset="-122"/>
                <a:cs typeface="Cambria" pitchFamily="34" charset="-120"/>
              </a:rPr>
              <a:t>52%↓</a:t>
            </a:r>
            <a:endParaRPr lang="en-US" sz="2000" dirty="0"/>
          </a:p>
        </p:txBody>
      </p:sp>
      <p:sp>
        <p:nvSpPr>
          <p:cNvPr id="13" name="Text 11"/>
          <p:cNvSpPr/>
          <p:nvPr/>
        </p:nvSpPr>
        <p:spPr>
          <a:xfrm>
            <a:off x="2651760" y="3493008"/>
            <a:ext cx="1920240" cy="292608"/>
          </a:xfrm>
          <a:prstGeom prst="rect">
            <a:avLst/>
          </a:prstGeom>
          <a:noFill/>
          <a:ln/>
        </p:spPr>
        <p:txBody>
          <a:bodyPr wrap="square"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Drop-offs</a:t>
            </a:r>
            <a:endParaRPr lang="en-US" sz="900" dirty="0"/>
          </a:p>
        </p:txBody>
      </p:sp>
      <p:sp>
        <p:nvSpPr>
          <p:cNvPr id="14" name="Shape 12"/>
          <p:cNvSpPr/>
          <p:nvPr/>
        </p:nvSpPr>
        <p:spPr>
          <a:xfrm>
            <a:off x="4709160" y="3182112"/>
            <a:ext cx="1920240" cy="685800"/>
          </a:xfrm>
          <a:prstGeom prst="roundRect">
            <a:avLst>
              <a:gd name="adj" fmla="val 10667"/>
            </a:avLst>
          </a:prstGeom>
          <a:solidFill>
            <a:srgbClr val="FFFFFF">
              <a:alpha val="12000"/>
            </a:srgbClr>
          </a:solidFill>
          <a:ln w="12700">
            <a:solidFill>
              <a:srgbClr val="5B9BD5"/>
            </a:solidFill>
            <a:prstDash val="solid"/>
          </a:ln>
        </p:spPr>
      </p:sp>
      <p:sp>
        <p:nvSpPr>
          <p:cNvPr id="15" name="Text 13"/>
          <p:cNvSpPr/>
          <p:nvPr/>
        </p:nvSpPr>
        <p:spPr>
          <a:xfrm>
            <a:off x="4709160" y="3182112"/>
            <a:ext cx="1920240" cy="347472"/>
          </a:xfrm>
          <a:prstGeom prst="rect">
            <a:avLst/>
          </a:prstGeom>
          <a:noFill/>
          <a:ln/>
        </p:spPr>
        <p:txBody>
          <a:bodyPr wrap="square" rtlCol="0" anchor="ctr"/>
          <a:lstStyle/>
          <a:p>
            <a:pPr algn="ctr" indent="0" marL="0">
              <a:buNone/>
            </a:pPr>
            <a:r>
              <a:rPr lang="en-US" sz="2000" b="1" dirty="0">
                <a:solidFill>
                  <a:srgbClr val="F59E0B"/>
                </a:solidFill>
                <a:latin typeface="Cambria" pitchFamily="34" charset="0"/>
                <a:ea typeface="Cambria" pitchFamily="34" charset="-122"/>
                <a:cs typeface="Cambria" pitchFamily="34" charset="-120"/>
              </a:rPr>
              <a:t>2.8x</a:t>
            </a:r>
            <a:endParaRPr lang="en-US" sz="2000" dirty="0"/>
          </a:p>
        </p:txBody>
      </p:sp>
      <p:sp>
        <p:nvSpPr>
          <p:cNvPr id="16" name="Text 14"/>
          <p:cNvSpPr/>
          <p:nvPr/>
        </p:nvSpPr>
        <p:spPr>
          <a:xfrm>
            <a:off x="4709160" y="3493008"/>
            <a:ext cx="1920240" cy="292608"/>
          </a:xfrm>
          <a:prstGeom prst="rect">
            <a:avLst/>
          </a:prstGeom>
          <a:noFill/>
          <a:ln/>
        </p:spPr>
        <p:txBody>
          <a:bodyPr wrap="square"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Transactions</a:t>
            </a:r>
            <a:endParaRPr lang="en-US" sz="900" dirty="0"/>
          </a:p>
        </p:txBody>
      </p:sp>
      <p:sp>
        <p:nvSpPr>
          <p:cNvPr id="17" name="Shape 15"/>
          <p:cNvSpPr/>
          <p:nvPr/>
        </p:nvSpPr>
        <p:spPr>
          <a:xfrm>
            <a:off x="6766560" y="3182112"/>
            <a:ext cx="1920240" cy="685800"/>
          </a:xfrm>
          <a:prstGeom prst="roundRect">
            <a:avLst>
              <a:gd name="adj" fmla="val 10667"/>
            </a:avLst>
          </a:prstGeom>
          <a:solidFill>
            <a:srgbClr val="FFFFFF">
              <a:alpha val="12000"/>
            </a:srgbClr>
          </a:solidFill>
          <a:ln w="12700">
            <a:solidFill>
              <a:srgbClr val="5B9BD5"/>
            </a:solidFill>
            <a:prstDash val="solid"/>
          </a:ln>
        </p:spPr>
      </p:sp>
      <p:sp>
        <p:nvSpPr>
          <p:cNvPr id="18" name="Text 16"/>
          <p:cNvSpPr/>
          <p:nvPr/>
        </p:nvSpPr>
        <p:spPr>
          <a:xfrm>
            <a:off x="6766560" y="3182112"/>
            <a:ext cx="1920240" cy="347472"/>
          </a:xfrm>
          <a:prstGeom prst="rect">
            <a:avLst/>
          </a:prstGeom>
          <a:noFill/>
          <a:ln/>
        </p:spPr>
        <p:txBody>
          <a:bodyPr wrap="square" rtlCol="0" anchor="ctr"/>
          <a:lstStyle/>
          <a:p>
            <a:pPr algn="ctr" indent="0" marL="0">
              <a:buNone/>
            </a:pPr>
            <a:r>
              <a:rPr lang="en-US" sz="2000" b="1" dirty="0">
                <a:solidFill>
                  <a:srgbClr val="F59E0B"/>
                </a:solidFill>
                <a:latin typeface="Cambria" pitchFamily="34" charset="0"/>
                <a:ea typeface="Cambria" pitchFamily="34" charset="-122"/>
                <a:cs typeface="Cambria" pitchFamily="34" charset="-120"/>
              </a:rPr>
              <a:t>60%↑</a:t>
            </a:r>
            <a:endParaRPr lang="en-US" sz="2000" dirty="0"/>
          </a:p>
        </p:txBody>
      </p:sp>
      <p:sp>
        <p:nvSpPr>
          <p:cNvPr id="19" name="Text 17"/>
          <p:cNvSpPr/>
          <p:nvPr/>
        </p:nvSpPr>
        <p:spPr>
          <a:xfrm>
            <a:off x="6766560" y="3493008"/>
            <a:ext cx="1920240" cy="292608"/>
          </a:xfrm>
          <a:prstGeom prst="rect">
            <a:avLst/>
          </a:prstGeom>
          <a:noFill/>
          <a:ln/>
        </p:spPr>
        <p:txBody>
          <a:bodyPr wrap="square"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Customer LTV</a:t>
            </a:r>
            <a:endParaRPr lang="en-US" sz="900" dirty="0"/>
          </a:p>
        </p:txBody>
      </p:sp>
      <p:sp>
        <p:nvSpPr>
          <p:cNvPr id="20" name="Text 18"/>
          <p:cNvSpPr/>
          <p:nvPr/>
        </p:nvSpPr>
        <p:spPr>
          <a:xfrm>
            <a:off x="548640" y="4005072"/>
            <a:ext cx="8229600" cy="566928"/>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1" name="Text 19"/>
          <p:cNvSpPr/>
          <p:nvPr/>
        </p:nvSpPr>
        <p:spPr>
          <a:xfrm>
            <a:off x="548640" y="4617720"/>
            <a:ext cx="8229600" cy="347472"/>
          </a:xfrm>
          <a:prstGeom prst="rect">
            <a:avLst/>
          </a:prstGeom>
          <a:noFill/>
          <a:ln/>
        </p:spPr>
        <p:txBody>
          <a:bodyPr wrap="square" rtlCol="0" anchor="ctr"/>
          <a:lstStyle/>
          <a:p>
            <a:pPr algn="ctr" indent="0" marL="0">
              <a:buNone/>
            </a:pPr>
            <a:r>
              <a:rPr lang="en-US" sz="1100" dirty="0">
                <a:solidFill>
                  <a:srgbClr val="9DB8DC"/>
                </a:solidFill>
                <a:latin typeface="Calibri" pitchFamily="34" charset="0"/>
                <a:ea typeface="Calibri" pitchFamily="34" charset="-122"/>
                <a:cs typeface="Calibri" pitchFamily="34" charset="-120"/>
              </a:rPr>
              <a:t>Deva Dharshika D  ·  GFF 2026 SBI Hackathon  ·  SBI SmartLife Agent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SBI SmartLife Agent – GFF 2026</dc:title>
  <dc:subject>PptxGenJS Presentation</dc:subject>
  <dc:creator>Deva Dharshika D</dc:creator>
  <cp:lastModifiedBy>Deva Dharshika D</cp:lastModifiedBy>
  <cp:revision>1</cp:revision>
  <dcterms:created xsi:type="dcterms:W3CDTF">2026-06-24T11:17:53Z</dcterms:created>
  <dcterms:modified xsi:type="dcterms:W3CDTF">2026-06-24T11:17:53Z</dcterms:modified>
</cp:coreProperties>
</file>